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17"/>
  </p:notesMasterIdLst>
  <p:sldIdLst>
    <p:sldId id="298" r:id="rId3"/>
    <p:sldId id="262" r:id="rId4"/>
    <p:sldId id="694" r:id="rId5"/>
    <p:sldId id="700" r:id="rId6"/>
    <p:sldId id="371" r:id="rId7"/>
    <p:sldId id="702" r:id="rId8"/>
    <p:sldId id="703" r:id="rId9"/>
    <p:sldId id="707" r:id="rId10"/>
    <p:sldId id="698" r:id="rId11"/>
    <p:sldId id="704" r:id="rId12"/>
    <p:sldId id="708" r:id="rId13"/>
    <p:sldId id="705" r:id="rId14"/>
    <p:sldId id="706" r:id="rId15"/>
    <p:sldId id="701" r:id="rId1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E4F0F2"/>
    <a:srgbClr val="FFFFFF"/>
    <a:srgbClr val="FFF2CC"/>
    <a:srgbClr val="5A99D3"/>
    <a:srgbClr val="FC9D99"/>
    <a:srgbClr val="C8C7A8"/>
    <a:srgbClr val="FACDAE"/>
    <a:srgbClr val="E4C1F9"/>
    <a:srgbClr val="A9DE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55" autoAdjust="0"/>
    <p:restoredTop sz="93772" autoAdjust="0"/>
  </p:normalViewPr>
  <p:slideViewPr>
    <p:cSldViewPr snapToGrid="0">
      <p:cViewPr varScale="1">
        <p:scale>
          <a:sx n="107" d="100"/>
          <a:sy n="107" d="100"/>
        </p:scale>
        <p:origin x="6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ECA6F-0DCA-48FF-B307-B97ED706078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2B4EBD-CAFA-4C5A-A144-FD785BEB34D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90A2-DCB1-496C-8650-20FB8B719C4A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DAF32-8E98-350B-6377-3BBC92200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9DC0C-5650-C752-D6A8-8BD5B611F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9E24F6-D05F-83E9-E1E0-84CEFA65B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E5A45-425A-E9C9-268C-1D431BED3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91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09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2FE4-9C1B-BFF5-BAC3-B97F23B8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9AC49-257B-DB4B-8C22-1015BC219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09BFFB-8BD1-A79C-8258-EE16437B1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12FD0-36E5-33DB-A989-5B2D1AB8D9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047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50BDD-7DAE-9A61-0058-CA5D431BA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845B23-2484-4A18-EFF2-E807924BC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8A9E89-8EB5-9562-A1EC-D6C9D7464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49850-346D-38D0-ECAD-1DE1F34B7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85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EB284-4321-9955-2520-3A22012E6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30E91-A31A-EA81-CD23-55CB7C51E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672269-803F-5A52-F3CF-926B0C849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C5AEA-7D75-7270-F30C-B8210B34B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516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B9A07-42FB-62CC-9826-FD4268286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793D8-C668-F46D-0DB8-636C97DB5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C1487-C0B4-C517-F7FD-DC3EDF87A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3EF9F-1D15-6628-3945-AD70B9C8E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50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166EF-461A-A8B7-CA6F-1FBCE7A67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5C70B2-508F-BEC9-378B-657EC9CC2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92CA8-6D44-16E8-2161-C143EB8E8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3F3E6-BD23-F859-FCC3-06F47AA34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43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E5442-01D2-33D9-0F59-5747D2643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933A6-A917-FF21-4A98-6F37D5A72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BDF785-46FF-44EF-9ED7-2EEFDF738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9B7A0-AB54-17CB-F9DA-D63F65C8E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376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A8FFF-A0AB-2F50-B75E-71F834C30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F8811C-70D3-ED60-B09D-EFC038803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47161B-3AC6-F497-6E18-267C9758D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48E93-CCF1-8D68-4B31-08010F15B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72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EB8BE-8D9A-BAA3-FA3E-D446616DD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53502-888F-7678-E472-1604D6094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3E554-6F3E-EF7B-BAC0-843C6EDD0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D5854-4FA1-2D99-B306-077D45381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27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709613" y="463550"/>
            <a:ext cx="4257675" cy="5815013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5501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BCCD8-9692-4B1E-8555-AB252426E06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FCED6-6C95-4567-AAD4-4A2B706215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picture containing ax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25" name="Rectangle 24"/>
          <p:cNvSpPr/>
          <p:nvPr/>
        </p:nvSpPr>
        <p:spPr>
          <a:xfrm>
            <a:off x="13334" y="71443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Subtitle 2"/>
          <p:cNvSpPr txBox="1"/>
          <p:nvPr/>
        </p:nvSpPr>
        <p:spPr>
          <a:xfrm>
            <a:off x="15875" y="3895725"/>
            <a:ext cx="12186285" cy="1706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45000"/>
              </a:lnSpc>
              <a:spcBef>
                <a:spcPts val="0"/>
              </a:spcBef>
            </a:pPr>
            <a:r>
              <a:rPr lang="en-US" sz="2800" b="1">
                <a:solidFill>
                  <a:srgbClr val="002060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NGÔN NGỮ ĐẠI SỐ QUAN HỆ NÂNG CAO</a:t>
            </a:r>
          </a:p>
        </p:txBody>
      </p:sp>
      <p:sp>
        <p:nvSpPr>
          <p:cNvPr id="17" name="Subtitle 2"/>
          <p:cNvSpPr txBox="1"/>
          <p:nvPr/>
        </p:nvSpPr>
        <p:spPr>
          <a:xfrm>
            <a:off x="-207645" y="4971415"/>
            <a:ext cx="12272645" cy="18815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GVHD: 	NGUYỄN HÒA</a:t>
            </a:r>
          </a:p>
          <a:p>
            <a:pPr algn="ctr"/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SVTH: NHÓM 2</a:t>
            </a:r>
          </a:p>
          <a:p>
            <a:pPr algn="ctr"/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LỚP: DCT123C6</a:t>
            </a:r>
            <a:endParaRPr lang="en-US" sz="2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b="1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b="1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75" y="521970"/>
            <a:ext cx="1218882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vi-VN" sz="30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SÀI GÒN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-2540" y="3103880"/>
            <a:ext cx="12191365" cy="6451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 CÁO TIỂU LUẬN </a:t>
            </a:r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5271770" y="1374775"/>
            <a:ext cx="1398905" cy="1409700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44" y="3320"/>
            <a:ext cx="4362170" cy="2455466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5118" y="769888"/>
            <a:ext cx="10783318" cy="1243302"/>
          </a:xfrm>
          <a:prstGeom prst="rect">
            <a:avLst/>
          </a:prstGeom>
          <a:noFill/>
          <a:ln w="57150"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630900" y="2904922"/>
            <a:ext cx="9640949" cy="7407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30900" y="4218846"/>
            <a:ext cx="9640949" cy="7407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485352" y="943191"/>
            <a:ext cx="6951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Ánh</a:t>
            </a:r>
            <a:r>
              <a:rPr lang="vi-V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xạ</a:t>
            </a:r>
            <a:r>
              <a:rPr lang="vi-V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vi-V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vi-V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quan </a:t>
            </a:r>
            <a:r>
              <a:rPr lang="vi-VN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vi-V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vi-V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ngôn </a:t>
            </a:r>
            <a:r>
              <a:rPr lang="vi-VN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lang="vi-V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 flipH="1">
            <a:off x="4634672" y="1493796"/>
            <a:ext cx="66371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921019" y="3005888"/>
            <a:ext cx="676752" cy="545991"/>
          </a:xfrm>
          <a:prstGeom prst="rect">
            <a:avLst/>
          </a:prstGeom>
          <a:noFill/>
          <a:ln w="28575"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955312" y="3121865"/>
            <a:ext cx="699829" cy="3509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200" dirty="0">
                <a:solidFill>
                  <a:schemeClr val="tx1"/>
                </a:solidFill>
              </a:rPr>
              <a:t>1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44305" y="3100289"/>
            <a:ext cx="797436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 err="1">
                <a:solidFill>
                  <a:srgbClr val="333333"/>
                </a:solidFill>
                <a:latin typeface="Arial" panose="020B0604020202020204" pitchFamily="34" charset="0"/>
              </a:rPr>
              <a:t>Ánh</a:t>
            </a:r>
            <a:r>
              <a:rPr lang="en-US" sz="2500" dirty="0">
                <a:solidFill>
                  <a:srgbClr val="333333"/>
                </a:solidFill>
                <a:latin typeface="Arial" panose="020B0604020202020204" pitchFamily="34" charset="0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Arial" panose="020B0604020202020204" pitchFamily="34" charset="0"/>
              </a:rPr>
              <a:t>xạ</a:t>
            </a:r>
            <a:r>
              <a:rPr lang="en-US" sz="2500" dirty="0">
                <a:solidFill>
                  <a:srgbClr val="333333"/>
                </a:solidFill>
                <a:latin typeface="Arial" panose="020B0604020202020204" pitchFamily="34" charset="0"/>
              </a:rPr>
              <a:t> các </a:t>
            </a:r>
            <a:r>
              <a:rPr lang="en-US" sz="2500" dirty="0" err="1">
                <a:solidFill>
                  <a:srgbClr val="333333"/>
                </a:solidFill>
                <a:latin typeface="Arial" panose="020B0604020202020204" pitchFamily="34" charset="0"/>
              </a:rPr>
              <a:t>phép</a:t>
            </a:r>
            <a:r>
              <a:rPr lang="en-US" sz="2500" dirty="0">
                <a:solidFill>
                  <a:srgbClr val="333333"/>
                </a:solidFill>
                <a:latin typeface="Arial" panose="020B0604020202020204" pitchFamily="34" charset="0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Arial" panose="020B0604020202020204" pitchFamily="34" charset="0"/>
              </a:rPr>
              <a:t>toán</a:t>
            </a:r>
            <a:r>
              <a:rPr lang="en-US" sz="2500" dirty="0">
                <a:solidFill>
                  <a:srgbClr val="333333"/>
                </a:solidFill>
                <a:latin typeface="Arial" panose="020B0604020202020204" pitchFamily="34" charset="0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Arial" panose="020B0604020202020204" pitchFamily="34" charset="0"/>
              </a:rPr>
              <a:t>cơ</a:t>
            </a:r>
            <a:r>
              <a:rPr lang="en-US" sz="2500" dirty="0">
                <a:solidFill>
                  <a:srgbClr val="333333"/>
                </a:solidFill>
                <a:latin typeface="Arial" panose="020B0604020202020204" pitchFamily="34" charset="0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Arial" panose="020B0604020202020204" pitchFamily="34" charset="0"/>
              </a:rPr>
              <a:t>bản</a:t>
            </a:r>
            <a:endParaRPr lang="en-US" sz="2500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947077" y="4349914"/>
            <a:ext cx="676752" cy="545991"/>
          </a:xfrm>
          <a:prstGeom prst="rect">
            <a:avLst/>
          </a:prstGeom>
          <a:noFill/>
          <a:ln w="28575"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968534" y="4454835"/>
            <a:ext cx="699829" cy="3509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200" dirty="0">
                <a:solidFill>
                  <a:schemeClr val="tx1"/>
                </a:solidFill>
              </a:rPr>
              <a:t>2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56564" y="4425915"/>
            <a:ext cx="794829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 err="1">
                <a:solidFill>
                  <a:srgbClr val="333333"/>
                </a:solidFill>
              </a:rPr>
              <a:t>Ánh</a:t>
            </a:r>
            <a:r>
              <a:rPr lang="en-US" sz="2500" dirty="0">
                <a:solidFill>
                  <a:srgbClr val="333333"/>
                </a:solidFill>
              </a:rPr>
              <a:t> </a:t>
            </a:r>
            <a:r>
              <a:rPr lang="en-US" sz="2500" dirty="0" err="1">
                <a:solidFill>
                  <a:srgbClr val="333333"/>
                </a:solidFill>
              </a:rPr>
              <a:t>xạ</a:t>
            </a:r>
            <a:r>
              <a:rPr lang="en-US" sz="2500" dirty="0">
                <a:solidFill>
                  <a:srgbClr val="333333"/>
                </a:solidFill>
              </a:rPr>
              <a:t> các </a:t>
            </a:r>
            <a:r>
              <a:rPr lang="en-US" sz="2500" dirty="0" err="1">
                <a:solidFill>
                  <a:srgbClr val="333333"/>
                </a:solidFill>
              </a:rPr>
              <a:t>phép</a:t>
            </a:r>
            <a:r>
              <a:rPr lang="en-US" sz="2500" dirty="0">
                <a:solidFill>
                  <a:srgbClr val="333333"/>
                </a:solidFill>
              </a:rPr>
              <a:t> </a:t>
            </a:r>
            <a:r>
              <a:rPr lang="en-US" sz="2500" dirty="0" err="1">
                <a:solidFill>
                  <a:srgbClr val="333333"/>
                </a:solidFill>
              </a:rPr>
              <a:t>kết</a:t>
            </a:r>
            <a:r>
              <a:rPr lang="en-US" sz="2500" dirty="0">
                <a:solidFill>
                  <a:srgbClr val="333333"/>
                </a:solidFill>
              </a:rPr>
              <a:t> </a:t>
            </a:r>
            <a:r>
              <a:rPr lang="en-US" sz="2500" dirty="0" err="1">
                <a:solidFill>
                  <a:srgbClr val="333333"/>
                </a:solidFill>
              </a:rPr>
              <a:t>nối</a:t>
            </a:r>
            <a:endParaRPr lang="vi-VN" sz="2500" dirty="0">
              <a:solidFill>
                <a:srgbClr val="333333"/>
              </a:solidFill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21374" cy="2430765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 rot="10800000">
            <a:off x="0" y="-10582"/>
            <a:ext cx="4421376" cy="243076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/>
          <p:cNvSpPr/>
          <p:nvPr/>
        </p:nvSpPr>
        <p:spPr>
          <a:xfrm>
            <a:off x="871086" y="627350"/>
            <a:ext cx="2920621" cy="1368000"/>
          </a:xfrm>
          <a:prstGeom prst="rect">
            <a:avLst/>
          </a:prstGeom>
          <a:solidFill>
            <a:schemeClr val="bg1">
              <a:lumMod val="95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b="1" dirty="0">
                <a:solidFill>
                  <a:schemeClr val="tx1"/>
                </a:solidFill>
              </a:rPr>
              <a:t>Chương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7108" y="555732"/>
            <a:ext cx="3024000" cy="148223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D3DD22-5A02-4B21-B518-77173B1263B8}"/>
              </a:ext>
            </a:extLst>
          </p:cNvPr>
          <p:cNvSpPr/>
          <p:nvPr/>
        </p:nvSpPr>
        <p:spPr>
          <a:xfrm>
            <a:off x="1630900" y="5415676"/>
            <a:ext cx="9640949" cy="7407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765636-1239-4149-8CE6-71E4E69B6EF5}"/>
              </a:ext>
            </a:extLst>
          </p:cNvPr>
          <p:cNvSpPr/>
          <p:nvPr/>
        </p:nvSpPr>
        <p:spPr>
          <a:xfrm>
            <a:off x="1947077" y="5535057"/>
            <a:ext cx="676752" cy="545991"/>
          </a:xfrm>
          <a:prstGeom prst="rect">
            <a:avLst/>
          </a:prstGeom>
          <a:noFill/>
          <a:ln w="28575"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E7D53D-3E19-4E59-9462-445EC5DBFD6B}"/>
              </a:ext>
            </a:extLst>
          </p:cNvPr>
          <p:cNvSpPr/>
          <p:nvPr/>
        </p:nvSpPr>
        <p:spPr>
          <a:xfrm>
            <a:off x="1968534" y="5639978"/>
            <a:ext cx="699829" cy="3509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B2E1F6-76B3-4BEC-A030-8D67D82D471A}"/>
              </a:ext>
            </a:extLst>
          </p:cNvPr>
          <p:cNvSpPr txBox="1"/>
          <p:nvPr/>
        </p:nvSpPr>
        <p:spPr>
          <a:xfrm>
            <a:off x="2856564" y="5611058"/>
            <a:ext cx="794829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 err="1">
                <a:solidFill>
                  <a:srgbClr val="333333"/>
                </a:solidFill>
              </a:rPr>
              <a:t>Ánh</a:t>
            </a:r>
            <a:r>
              <a:rPr lang="en-US" sz="2500" dirty="0">
                <a:solidFill>
                  <a:srgbClr val="333333"/>
                </a:solidFill>
              </a:rPr>
              <a:t> </a:t>
            </a:r>
            <a:r>
              <a:rPr lang="en-US" sz="2500" dirty="0" err="1">
                <a:solidFill>
                  <a:srgbClr val="333333"/>
                </a:solidFill>
              </a:rPr>
              <a:t>xạ</a:t>
            </a:r>
            <a:r>
              <a:rPr lang="en-US" sz="2500" dirty="0">
                <a:solidFill>
                  <a:srgbClr val="333333"/>
                </a:solidFill>
              </a:rPr>
              <a:t> </a:t>
            </a:r>
            <a:r>
              <a:rPr lang="en-US" sz="2500" dirty="0" err="1">
                <a:solidFill>
                  <a:srgbClr val="333333"/>
                </a:solidFill>
              </a:rPr>
              <a:t>phép</a:t>
            </a:r>
            <a:r>
              <a:rPr lang="en-US" sz="2500" dirty="0">
                <a:solidFill>
                  <a:srgbClr val="333333"/>
                </a:solidFill>
              </a:rPr>
              <a:t> chia</a:t>
            </a:r>
            <a:endParaRPr lang="vi-VN" sz="25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1062213">
            <a:off x="1981200" y="-685800"/>
            <a:ext cx="82296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 rot="21137942">
            <a:off x="2667000" y="-1"/>
            <a:ext cx="6858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rot="20322364">
            <a:off x="3489960" y="763625"/>
            <a:ext cx="5212080" cy="52120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18885526">
            <a:off x="4312920" y="1645919"/>
            <a:ext cx="3566160" cy="35661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2928380" y="1577834"/>
            <a:ext cx="1876612" cy="782482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873588" y="1690881"/>
            <a:ext cx="2550217" cy="2572775"/>
            <a:chOff x="1009931" y="1857639"/>
            <a:chExt cx="3068721" cy="3095865"/>
          </a:xfrm>
          <a:effectLst>
            <a:outerShdw blurRad="368300" dist="762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9" name="Oval 18"/>
            <p:cNvSpPr/>
            <p:nvPr/>
          </p:nvSpPr>
          <p:spPr>
            <a:xfrm>
              <a:off x="1009931" y="1857639"/>
              <a:ext cx="3068721" cy="3095865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495300" dist="50800" dir="7200000" algn="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ristote" panose="020406030505060202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71540" y="2812233"/>
              <a:ext cx="2949163" cy="1499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2500" b="1" dirty="0" err="1">
                  <a:solidFill>
                    <a:srgbClr val="FF4266"/>
                  </a:solidFill>
                  <a:latin typeface="Arial" panose="020B0604020202020204" pitchFamily="34" charset="0"/>
                  <a:ea typeface="Fillmore" panose="02020500000000000000" pitchFamily="18" charset="0"/>
                  <a:cs typeface="Arial" panose="020B0604020202020204" pitchFamily="34" charset="0"/>
                </a:rPr>
                <a:t>Ánh</a:t>
              </a:r>
              <a:r>
                <a:rPr lang="vi-VN" sz="2500" b="1" dirty="0">
                  <a:solidFill>
                    <a:srgbClr val="FF4266"/>
                  </a:solidFill>
                  <a:latin typeface="Arial" panose="020B0604020202020204" pitchFamily="34" charset="0"/>
                  <a:ea typeface="Fillmore" panose="02020500000000000000" pitchFamily="18" charset="0"/>
                  <a:cs typeface="Arial" panose="020B0604020202020204" pitchFamily="34" charset="0"/>
                </a:rPr>
                <a:t> </a:t>
              </a:r>
              <a:r>
                <a:rPr lang="vi-VN" sz="2500" b="1" dirty="0" err="1">
                  <a:solidFill>
                    <a:srgbClr val="FF4266"/>
                  </a:solidFill>
                  <a:latin typeface="Arial" panose="020B0604020202020204" pitchFamily="34" charset="0"/>
                  <a:ea typeface="Fillmore" panose="02020500000000000000" pitchFamily="18" charset="0"/>
                  <a:cs typeface="Arial" panose="020B0604020202020204" pitchFamily="34" charset="0"/>
                </a:rPr>
                <a:t>xạ</a:t>
              </a:r>
              <a:r>
                <a:rPr lang="vi-VN" sz="2500" b="1" dirty="0">
                  <a:solidFill>
                    <a:srgbClr val="FF4266"/>
                  </a:solidFill>
                  <a:latin typeface="Arial" panose="020B0604020202020204" pitchFamily="34" charset="0"/>
                  <a:ea typeface="Fillmore" panose="02020500000000000000" pitchFamily="18" charset="0"/>
                  <a:cs typeface="Arial" panose="020B0604020202020204" pitchFamily="34" charset="0"/>
                </a:rPr>
                <a:t> </a:t>
              </a:r>
              <a:r>
                <a:rPr lang="vi-VN" sz="2500" b="1" dirty="0" err="1">
                  <a:solidFill>
                    <a:srgbClr val="FF4266"/>
                  </a:solidFill>
                  <a:latin typeface="Arial" panose="020B0604020202020204" pitchFamily="34" charset="0"/>
                  <a:ea typeface="Fillmore" panose="02020500000000000000" pitchFamily="18" charset="0"/>
                  <a:cs typeface="Arial" panose="020B0604020202020204" pitchFamily="34" charset="0"/>
                </a:rPr>
                <a:t>các</a:t>
              </a:r>
              <a:r>
                <a:rPr lang="vi-VN" sz="2500" b="1" dirty="0">
                  <a:solidFill>
                    <a:srgbClr val="FF4266"/>
                  </a:solidFill>
                  <a:latin typeface="Arial" panose="020B0604020202020204" pitchFamily="34" charset="0"/>
                  <a:ea typeface="Fillmore" panose="02020500000000000000" pitchFamily="18" charset="0"/>
                  <a:cs typeface="Arial" panose="020B0604020202020204" pitchFamily="34" charset="0"/>
                </a:rPr>
                <a:t> </a:t>
              </a:r>
              <a:r>
                <a:rPr lang="vi-VN" sz="2500" b="1" dirty="0" err="1">
                  <a:solidFill>
                    <a:srgbClr val="FF4266"/>
                  </a:solidFill>
                  <a:latin typeface="Arial" panose="020B0604020202020204" pitchFamily="34" charset="0"/>
                  <a:ea typeface="Fillmore" panose="02020500000000000000" pitchFamily="18" charset="0"/>
                  <a:cs typeface="Arial" panose="020B0604020202020204" pitchFamily="34" charset="0"/>
                </a:rPr>
                <a:t>phép</a:t>
              </a:r>
              <a:r>
                <a:rPr lang="vi-VN" sz="2500" b="1" dirty="0">
                  <a:solidFill>
                    <a:srgbClr val="FF4266"/>
                  </a:solidFill>
                  <a:latin typeface="Arial" panose="020B0604020202020204" pitchFamily="34" charset="0"/>
                  <a:ea typeface="Fillmore" panose="02020500000000000000" pitchFamily="18" charset="0"/>
                  <a:cs typeface="Arial" panose="020B0604020202020204" pitchFamily="34" charset="0"/>
                </a:rPr>
                <a:t> </a:t>
              </a:r>
              <a:r>
                <a:rPr lang="vi-VN" sz="2500" b="1" dirty="0" err="1">
                  <a:solidFill>
                    <a:srgbClr val="FF4266"/>
                  </a:solidFill>
                  <a:latin typeface="Arial" panose="020B0604020202020204" pitchFamily="34" charset="0"/>
                  <a:ea typeface="Fillmore" panose="02020500000000000000" pitchFamily="18" charset="0"/>
                  <a:cs typeface="Arial" panose="020B0604020202020204" pitchFamily="34" charset="0"/>
                </a:rPr>
                <a:t>toán</a:t>
              </a:r>
              <a:r>
                <a:rPr lang="vi-VN" sz="2500" b="1" dirty="0">
                  <a:solidFill>
                    <a:srgbClr val="FF4266"/>
                  </a:solidFill>
                  <a:latin typeface="Arial" panose="020B0604020202020204" pitchFamily="34" charset="0"/>
                  <a:ea typeface="Fillmore" panose="02020500000000000000" pitchFamily="18" charset="0"/>
                  <a:cs typeface="Arial" panose="020B0604020202020204" pitchFamily="34" charset="0"/>
                </a:rPr>
                <a:t> cơ </a:t>
              </a:r>
              <a:r>
                <a:rPr lang="vi-VN" sz="2500" b="1" dirty="0" err="1">
                  <a:solidFill>
                    <a:srgbClr val="FF4266"/>
                  </a:solidFill>
                  <a:latin typeface="Arial" panose="020B0604020202020204" pitchFamily="34" charset="0"/>
                  <a:ea typeface="Fillmore" panose="02020500000000000000" pitchFamily="18" charset="0"/>
                  <a:cs typeface="Arial" panose="020B0604020202020204" pitchFamily="34" charset="0"/>
                </a:rPr>
                <a:t>bản</a:t>
              </a:r>
              <a:endParaRPr lang="vi-VN" sz="2500" b="1" dirty="0">
                <a:solidFill>
                  <a:srgbClr val="FF4266"/>
                </a:solidFill>
                <a:latin typeface="Arial" panose="020B0604020202020204" pitchFamily="34" charset="0"/>
                <a:ea typeface="Fillmore" panose="02020500000000000000" pitchFamily="18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184937" y="666403"/>
            <a:ext cx="6358026" cy="1311028"/>
            <a:chOff x="4363267" y="739989"/>
            <a:chExt cx="6358026" cy="1311028"/>
          </a:xfrm>
        </p:grpSpPr>
        <p:grpSp>
          <p:nvGrpSpPr>
            <p:cNvPr id="29" name="Group 28"/>
            <p:cNvGrpSpPr/>
            <p:nvPr/>
          </p:nvGrpSpPr>
          <p:grpSpPr>
            <a:xfrm>
              <a:off x="4363267" y="739989"/>
              <a:ext cx="1357495" cy="1311028"/>
              <a:chOff x="5018363" y="1490628"/>
              <a:chExt cx="1357495" cy="1311028"/>
            </a:xfrm>
          </p:grpSpPr>
          <p:grpSp>
            <p:nvGrpSpPr>
              <p:cNvPr id="33" name="Group 32"/>
              <p:cNvGrpSpPr/>
              <p:nvPr/>
            </p:nvGrpSpPr>
            <p:grpSpPr>
              <a:xfrm>
                <a:off x="5018363" y="1490628"/>
                <a:ext cx="1357495" cy="1311028"/>
                <a:chOff x="3435222" y="2110090"/>
                <a:chExt cx="1357495" cy="1311028"/>
              </a:xfrm>
            </p:grpSpPr>
            <p:sp>
              <p:nvSpPr>
                <p:cNvPr id="35" name="Oval 34"/>
                <p:cNvSpPr/>
                <p:nvPr/>
              </p:nvSpPr>
              <p:spPr>
                <a:xfrm>
                  <a:off x="3435222" y="2110090"/>
                  <a:ext cx="1357495" cy="131102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50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  <a:effectLst>
                  <a:outerShdw blurRad="495300" dist="508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/>
                <p:cNvSpPr/>
                <p:nvPr/>
              </p:nvSpPr>
              <p:spPr>
                <a:xfrm>
                  <a:off x="3556595" y="2221878"/>
                  <a:ext cx="1124587" cy="1086193"/>
                </a:xfrm>
                <a:prstGeom prst="ellipse">
                  <a:avLst/>
                </a:prstGeom>
                <a:solidFill>
                  <a:srgbClr val="34D4D0"/>
                </a:solidFill>
                <a:ln>
                  <a:noFill/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4" name="TextBox 33"/>
              <p:cNvSpPr txBox="1"/>
              <p:nvPr/>
            </p:nvSpPr>
            <p:spPr>
              <a:xfrm>
                <a:off x="5349271" y="1802962"/>
                <a:ext cx="75062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01</a:t>
                </a:r>
              </a:p>
            </p:txBody>
          </p:sp>
        </p:grpSp>
        <p:sp>
          <p:nvSpPr>
            <p:cNvPr id="30" name="TextBox 29"/>
            <p:cNvSpPr txBox="1"/>
            <p:nvPr/>
          </p:nvSpPr>
          <p:spPr>
            <a:xfrm>
              <a:off x="5974068" y="878559"/>
              <a:ext cx="45276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 dirty="0" err="1">
                  <a:solidFill>
                    <a:srgbClr val="34D4D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Phép</a:t>
              </a:r>
              <a:r>
                <a:rPr lang="vi-VN" sz="2800" b="1" dirty="0">
                  <a:solidFill>
                    <a:srgbClr val="34D4D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srgbClr val="34D4D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Chọn</a:t>
              </a:r>
              <a:r>
                <a:rPr lang="en-US" sz="2800" b="1" dirty="0">
                  <a:solidFill>
                    <a:srgbClr val="34D4D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&amp; </a:t>
              </a:r>
              <a:r>
                <a:rPr lang="en-US" sz="2800" b="1" dirty="0" err="1">
                  <a:solidFill>
                    <a:srgbClr val="34D4D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Phép</a:t>
              </a:r>
              <a:r>
                <a:rPr lang="en-US" sz="2800" b="1" dirty="0">
                  <a:solidFill>
                    <a:srgbClr val="34D4D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srgbClr val="34D4D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Chiếu</a:t>
              </a:r>
              <a:endParaRPr lang="en-US" sz="2800" b="1" dirty="0">
                <a:solidFill>
                  <a:srgbClr val="34D4D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1" name="Straight Connector 30"/>
            <p:cNvCxnSpPr>
              <a:cxnSpLocks/>
            </p:cNvCxnSpPr>
            <p:nvPr/>
          </p:nvCxnSpPr>
          <p:spPr>
            <a:xfrm>
              <a:off x="6083253" y="1463113"/>
              <a:ext cx="4332771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6001361" y="1498599"/>
              <a:ext cx="4719932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570550" y="2637985"/>
            <a:ext cx="6579823" cy="1311028"/>
            <a:chOff x="4930479" y="2494458"/>
            <a:chExt cx="6579823" cy="1311028"/>
          </a:xfrm>
        </p:grpSpPr>
        <p:grpSp>
          <p:nvGrpSpPr>
            <p:cNvPr id="38" name="Group 37"/>
            <p:cNvGrpSpPr/>
            <p:nvPr/>
          </p:nvGrpSpPr>
          <p:grpSpPr>
            <a:xfrm>
              <a:off x="4930479" y="2494458"/>
              <a:ext cx="1357495" cy="1311028"/>
              <a:chOff x="5018363" y="1490628"/>
              <a:chExt cx="1357495" cy="1311028"/>
            </a:xfrm>
          </p:grpSpPr>
          <p:grpSp>
            <p:nvGrpSpPr>
              <p:cNvPr id="42" name="Group 41"/>
              <p:cNvGrpSpPr/>
              <p:nvPr/>
            </p:nvGrpSpPr>
            <p:grpSpPr>
              <a:xfrm>
                <a:off x="5018363" y="1490628"/>
                <a:ext cx="1357495" cy="1311028"/>
                <a:chOff x="3435222" y="2110090"/>
                <a:chExt cx="1357495" cy="1311028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3435222" y="2110090"/>
                  <a:ext cx="1357495" cy="131102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50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  <a:effectLst>
                  <a:outerShdw blurRad="495300" dist="508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Oval 44"/>
                <p:cNvSpPr/>
                <p:nvPr/>
              </p:nvSpPr>
              <p:spPr>
                <a:xfrm>
                  <a:off x="3556595" y="2221878"/>
                  <a:ext cx="1124587" cy="1086193"/>
                </a:xfrm>
                <a:prstGeom prst="ellipse">
                  <a:avLst/>
                </a:prstGeom>
                <a:solidFill>
                  <a:srgbClr val="FD7FA3"/>
                </a:solidFill>
                <a:ln>
                  <a:noFill/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3" name="TextBox 42"/>
              <p:cNvSpPr txBox="1"/>
              <p:nvPr/>
            </p:nvSpPr>
            <p:spPr>
              <a:xfrm>
                <a:off x="5300839" y="1809890"/>
                <a:ext cx="87663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02</a:t>
                </a:r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6479038" y="2641772"/>
              <a:ext cx="50312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FD7F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Các </a:t>
              </a:r>
              <a:r>
                <a:rPr lang="vi-VN" sz="2800" b="1" dirty="0" err="1">
                  <a:solidFill>
                    <a:srgbClr val="FD7F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Phép</a:t>
              </a:r>
              <a:r>
                <a:rPr lang="en-US" sz="2800" b="1" dirty="0">
                  <a:solidFill>
                    <a:srgbClr val="FD7F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srgbClr val="FD7F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Toán</a:t>
              </a:r>
              <a:r>
                <a:rPr lang="en-US" sz="2800" b="1" dirty="0">
                  <a:solidFill>
                    <a:srgbClr val="FD7F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srgbClr val="FD7F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Tử</a:t>
              </a:r>
              <a:r>
                <a:rPr lang="en-US" sz="2800" b="1" dirty="0">
                  <a:solidFill>
                    <a:srgbClr val="FD7F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srgbClr val="FD7F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Tập</a:t>
              </a:r>
              <a:r>
                <a:rPr lang="en-US" sz="2800" b="1" dirty="0">
                  <a:solidFill>
                    <a:srgbClr val="FD7F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srgbClr val="FD7F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Hợp</a:t>
              </a:r>
              <a:endParaRPr lang="en-US" sz="2800" b="1" dirty="0">
                <a:solidFill>
                  <a:srgbClr val="FD7FA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6479038" y="3285473"/>
              <a:ext cx="48402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4063564" y="4533336"/>
            <a:ext cx="7004929" cy="1311028"/>
            <a:chOff x="4424681" y="4426345"/>
            <a:chExt cx="7004929" cy="1311028"/>
          </a:xfrm>
        </p:grpSpPr>
        <p:grpSp>
          <p:nvGrpSpPr>
            <p:cNvPr id="47" name="Group 46"/>
            <p:cNvGrpSpPr/>
            <p:nvPr/>
          </p:nvGrpSpPr>
          <p:grpSpPr>
            <a:xfrm>
              <a:off x="4424681" y="4426345"/>
              <a:ext cx="1357495" cy="1311028"/>
              <a:chOff x="5018363" y="1490628"/>
              <a:chExt cx="1357495" cy="1311028"/>
            </a:xfrm>
          </p:grpSpPr>
          <p:grpSp>
            <p:nvGrpSpPr>
              <p:cNvPr id="51" name="Group 50"/>
              <p:cNvGrpSpPr/>
              <p:nvPr/>
            </p:nvGrpSpPr>
            <p:grpSpPr>
              <a:xfrm>
                <a:off x="5018363" y="1490628"/>
                <a:ext cx="1357495" cy="1311028"/>
                <a:chOff x="3435222" y="2110090"/>
                <a:chExt cx="1357495" cy="1311028"/>
              </a:xfrm>
            </p:grpSpPr>
            <p:sp>
              <p:nvSpPr>
                <p:cNvPr id="53" name="Oval 52"/>
                <p:cNvSpPr/>
                <p:nvPr/>
              </p:nvSpPr>
              <p:spPr>
                <a:xfrm>
                  <a:off x="3435222" y="2110090"/>
                  <a:ext cx="1357495" cy="131102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50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  <a:effectLst>
                  <a:outerShdw blurRad="495300" dist="508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3556595" y="2221878"/>
                  <a:ext cx="1124587" cy="1086193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2" name="TextBox 51"/>
              <p:cNvSpPr txBox="1"/>
              <p:nvPr/>
            </p:nvSpPr>
            <p:spPr>
              <a:xfrm>
                <a:off x="5319235" y="1796351"/>
                <a:ext cx="88111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03</a:t>
                </a:r>
              </a:p>
            </p:txBody>
          </p:sp>
        </p:grpSp>
        <p:sp>
          <p:nvSpPr>
            <p:cNvPr id="48" name="TextBox 47"/>
            <p:cNvSpPr txBox="1"/>
            <p:nvPr/>
          </p:nvSpPr>
          <p:spPr>
            <a:xfrm>
              <a:off x="6124191" y="4442597"/>
              <a:ext cx="37586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Phép Tích Descastes</a:t>
              </a:r>
              <a:endParaRPr lang="en-US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6219728" y="5027151"/>
              <a:ext cx="5209882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C606-6DC1-7A34-8C12-0FC8CA152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>
            <a:extLst>
              <a:ext uri="{FF2B5EF4-FFF2-40B4-BE49-F238E27FC236}">
                <a16:creationId xmlns:a16="http://schemas.microsoft.com/office/drawing/2014/main" id="{500B2EF4-C95F-AE17-87E5-BBA36279F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33C0468-9442-0D61-EDAE-C3322B98A338}"/>
              </a:ext>
            </a:extLst>
          </p:cNvPr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70F0C7-B9DD-1DC9-C84D-B2294981004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CFE947-F008-B273-75AC-E116641F7CF8}"/>
              </a:ext>
            </a:extLst>
          </p:cNvPr>
          <p:cNvSpPr/>
          <p:nvPr/>
        </p:nvSpPr>
        <p:spPr>
          <a:xfrm>
            <a:off x="559783" y="1103204"/>
            <a:ext cx="5149672" cy="1197483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B8D235-D9DC-12C6-B69D-58E02D1318E9}"/>
              </a:ext>
            </a:extLst>
          </p:cNvPr>
          <p:cNvSpPr/>
          <p:nvPr/>
        </p:nvSpPr>
        <p:spPr>
          <a:xfrm>
            <a:off x="6269586" y="1103204"/>
            <a:ext cx="5358964" cy="1197483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400C9C-A243-65DC-F800-ACBCD0E67286}"/>
              </a:ext>
            </a:extLst>
          </p:cNvPr>
          <p:cNvSpPr/>
          <p:nvPr/>
        </p:nvSpPr>
        <p:spPr>
          <a:xfrm>
            <a:off x="565472" y="2686140"/>
            <a:ext cx="11042248" cy="3770880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42233-A10C-2F9C-58FF-1BB9D01CA6B8}"/>
              </a:ext>
            </a:extLst>
          </p:cNvPr>
          <p:cNvSpPr txBox="1"/>
          <p:nvPr/>
        </p:nvSpPr>
        <p:spPr>
          <a:xfrm>
            <a:off x="706051" y="1599952"/>
            <a:ext cx="49167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defRPr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lvl="0" algn="ctr">
              <a:defRPr/>
            </a:pPr>
            <a:r>
              <a:rPr lang="vi-VN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σ</a:t>
            </a:r>
            <a:r>
              <a:rPr lang="vi-VN" sz="28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vi-VN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(R)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7A344-A6E8-A6F3-DA8A-5817FA696D82}"/>
              </a:ext>
            </a:extLst>
          </p:cNvPr>
          <p:cNvSpPr txBox="1"/>
          <p:nvPr/>
        </p:nvSpPr>
        <p:spPr>
          <a:xfrm>
            <a:off x="6579652" y="1587366"/>
            <a:ext cx="4906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</a:t>
            </a:r>
            <a:r>
              <a:rPr lang="vi-V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… </a:t>
            </a:r>
            <a:r>
              <a:rPr lang="vi-V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vi-V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 </a:t>
            </a:r>
            <a:r>
              <a:rPr lang="vi-V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WHERE</a:t>
            </a:r>
            <a:r>
              <a:rPr lang="vi-V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339024-8345-2749-658D-D90745FDAE35}"/>
              </a:ext>
            </a:extLst>
          </p:cNvPr>
          <p:cNvSpPr txBox="1"/>
          <p:nvPr/>
        </p:nvSpPr>
        <p:spPr>
          <a:xfrm>
            <a:off x="1160629" y="3364250"/>
            <a:ext cx="10204568" cy="609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defRPr/>
            </a:pP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D718A5-E1CA-AC62-7EC0-E0DE961E5427}"/>
              </a:ext>
            </a:extLst>
          </p:cNvPr>
          <p:cNvSpPr txBox="1"/>
          <p:nvPr/>
        </p:nvSpPr>
        <p:spPr>
          <a:xfrm>
            <a:off x="559783" y="1182411"/>
            <a:ext cx="5149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u="sng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0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u="sng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Quan Hệ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B2D7B1-4ED8-6F21-894D-F93F41C8FAEA}"/>
              </a:ext>
            </a:extLst>
          </p:cNvPr>
          <p:cNvSpPr txBox="1"/>
          <p:nvPr/>
        </p:nvSpPr>
        <p:spPr>
          <a:xfrm>
            <a:off x="6250701" y="1154657"/>
            <a:ext cx="535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41E702-4FC6-1CB1-5C58-329156DF07D4}"/>
              </a:ext>
            </a:extLst>
          </p:cNvPr>
          <p:cNvSpPr txBox="1"/>
          <p:nvPr/>
        </p:nvSpPr>
        <p:spPr>
          <a:xfrm>
            <a:off x="4731581" y="3039019"/>
            <a:ext cx="2359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795D24-E73B-28F0-7683-E102208887CB}"/>
              </a:ext>
            </a:extLst>
          </p:cNvPr>
          <p:cNvSpPr/>
          <p:nvPr/>
        </p:nvSpPr>
        <p:spPr>
          <a:xfrm>
            <a:off x="563600" y="2681372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57A36B3-EF4A-4D6E-FC58-7A61A0E283B3}"/>
              </a:ext>
            </a:extLst>
          </p:cNvPr>
          <p:cNvSpPr/>
          <p:nvPr/>
        </p:nvSpPr>
        <p:spPr>
          <a:xfrm>
            <a:off x="709868" y="276195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AEF98F0-16F0-6B32-EA25-7D18E17B9BC7}"/>
              </a:ext>
            </a:extLst>
          </p:cNvPr>
          <p:cNvSpPr/>
          <p:nvPr/>
        </p:nvSpPr>
        <p:spPr>
          <a:xfrm>
            <a:off x="972243" y="276195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72E046E-5DF0-9DDE-32C0-3572598F9993}"/>
              </a:ext>
            </a:extLst>
          </p:cNvPr>
          <p:cNvSpPr/>
          <p:nvPr/>
        </p:nvSpPr>
        <p:spPr>
          <a:xfrm>
            <a:off x="1252307" y="276195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B42DF71-DBA6-4B27-9FB9-68BEF1437E91}"/>
              </a:ext>
            </a:extLst>
          </p:cNvPr>
          <p:cNvGrpSpPr/>
          <p:nvPr/>
        </p:nvGrpSpPr>
        <p:grpSpPr>
          <a:xfrm>
            <a:off x="561826" y="186144"/>
            <a:ext cx="11122173" cy="854119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02046F9-7345-4032-9110-57AA885B8466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01A0B90-7AFF-47D7-9EBC-5D9C8C8E9595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6" name="Rectangle 56">
                <a:extLst>
                  <a:ext uri="{FF2B5EF4-FFF2-40B4-BE49-F238E27FC236}">
                    <a16:creationId xmlns:a16="http://schemas.microsoft.com/office/drawing/2014/main" id="{8180AE36-93C7-4EB0-8AC8-489B2BEF4E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6"/>
                <a:ext cx="11348435" cy="673756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vi-VN" sz="2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Phép</a:t>
                </a:r>
                <a:r>
                  <a:rPr lang="vi-V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US" sz="2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Chọn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2DEE0C8-E99C-4791-8584-792D541E63BE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8503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vi-VN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6914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/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5224" y="1529793"/>
            <a:ext cx="11064950" cy="5072289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41533" y="1799115"/>
                <a:ext cx="10650367" cy="2723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Cho 2 quan hệ R và S Khả hợp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Phép hợp của R và S :</a:t>
                </a:r>
              </a:p>
              <a:p>
                <a:pPr marL="285750" indent="-285750">
                  <a:buFontTx/>
                  <a:buChar char="-"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+mj-lt"/>
                  </a:rPr>
                  <a:t>Ký hiệu R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vi-VN" sz="2500" dirty="0">
                    <a:solidFill>
                      <a:prstClr val="black"/>
                    </a:solidFill>
                    <a:latin typeface="+mj-lt"/>
                  </a:rPr>
                  <a:t> S</a:t>
                </a:r>
              </a:p>
              <a:p>
                <a:pPr marL="285750" indent="-285750">
                  <a:buFontTx/>
                  <a:buChar char="-"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+mj-lt"/>
                  </a:rPr>
                  <a:t>Là một quan hệ gồm các bộ thuộc R hoặc thuộc S , hoặc cả hai (các bộ trùng lắp sẽ loại bỏ)</a:t>
                </a:r>
              </a:p>
              <a:p>
                <a:pPr>
                  <a:defRPr/>
                </a:pPr>
                <a:r>
                  <a:rPr lang="vi-VN" sz="2300" dirty="0">
                    <a:solidFill>
                      <a:prstClr val="black"/>
                    </a:solidFill>
                    <a:latin typeface="+mj-lt"/>
                  </a:rPr>
                  <a:t>Ký hiệu :					</a:t>
                </a:r>
              </a:p>
              <a:p>
                <a:pPr>
                  <a:defRPr/>
                </a:pPr>
                <a:r>
                  <a:rPr lang="vi-VN" sz="2300" dirty="0">
                    <a:solidFill>
                      <a:prstClr val="black"/>
                    </a:solidFill>
                    <a:latin typeface="+mj-lt"/>
                  </a:rPr>
                  <a:t>				</a:t>
                </a:r>
                <a:endParaRPr kumimoji="0" 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33" y="1799115"/>
                <a:ext cx="10650367" cy="2723823"/>
              </a:xfrm>
              <a:prstGeom prst="rect">
                <a:avLst/>
              </a:prstGeom>
              <a:blipFill>
                <a:blip r:embed="rId4"/>
                <a:stretch>
                  <a:fillRect l="-973" t="-1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57429" y="4928096"/>
            <a:ext cx="135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0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Ví Dụ 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1826" y="1210477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1" name="Oval 20"/>
          <p:cNvSpPr/>
          <p:nvPr/>
        </p:nvSpPr>
        <p:spPr>
          <a:xfrm>
            <a:off x="741864" y="129141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/>
          <p:cNvSpPr/>
          <p:nvPr/>
        </p:nvSpPr>
        <p:spPr>
          <a:xfrm>
            <a:off x="1022778" y="129141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Oval 22"/>
          <p:cNvSpPr/>
          <p:nvPr/>
        </p:nvSpPr>
        <p:spPr>
          <a:xfrm>
            <a:off x="1282289" y="129141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F324117-1721-EB0A-1DB0-17153F014EBD}"/>
              </a:ext>
            </a:extLst>
          </p:cNvPr>
          <p:cNvGrpSpPr/>
          <p:nvPr/>
        </p:nvGrpSpPr>
        <p:grpSpPr>
          <a:xfrm>
            <a:off x="561826" y="186144"/>
            <a:ext cx="11122173" cy="854119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E9BFB61-4C6C-56FD-20FB-C4B388535867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7862E99-F068-A354-0D68-7B2036B90FF6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BBFD6408-52C0-F702-964E-72CFD4A7C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6"/>
                <a:ext cx="11348435" cy="673756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vi-VN" sz="2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Phép</a:t>
                </a:r>
                <a:r>
                  <a:rPr lang="vi-V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US" sz="2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Chọn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65807A2-5F1A-193A-99C6-95B151223E05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8503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vi-VN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F654B1F8-CE30-DEA8-6D1C-4A56D365DAF6}"/>
              </a:ext>
            </a:extLst>
          </p:cNvPr>
          <p:cNvSpPr/>
          <p:nvPr/>
        </p:nvSpPr>
        <p:spPr>
          <a:xfrm>
            <a:off x="3465294" y="4065938"/>
            <a:ext cx="5429387" cy="59163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65E4AAE-69C2-1759-8C95-02328DB74C24}"/>
                  </a:ext>
                </a:extLst>
              </p:cNvPr>
              <p:cNvSpPr txBox="1"/>
              <p:nvPr/>
            </p:nvSpPr>
            <p:spPr>
              <a:xfrm>
                <a:off x="3657891" y="4083284"/>
                <a:ext cx="5313214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vi-VN" sz="25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65E4AAE-69C2-1759-8C95-02328DB74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891" y="4083284"/>
                <a:ext cx="5313214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8" name="Table 37">
                <a:extLst>
                  <a:ext uri="{FF2B5EF4-FFF2-40B4-BE49-F238E27FC236}">
                    <a16:creationId xmlns:a16="http://schemas.microsoft.com/office/drawing/2014/main" id="{EFBDC9BD-513B-AD3A-8AEE-965CA24E40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2958466"/>
                  </p:ext>
                </p:extLst>
              </p:nvPr>
            </p:nvGraphicFramePr>
            <p:xfrm>
              <a:off x="2251827" y="4936761"/>
              <a:ext cx="4015623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8541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1684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1356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8" name="Table 37">
                <a:extLst>
                  <a:ext uri="{FF2B5EF4-FFF2-40B4-BE49-F238E27FC236}">
                    <a16:creationId xmlns:a16="http://schemas.microsoft.com/office/drawing/2014/main" id="{EFBDC9BD-513B-AD3A-8AEE-965CA24E40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2958466"/>
                  </p:ext>
                </p:extLst>
              </p:nvPr>
            </p:nvGraphicFramePr>
            <p:xfrm>
              <a:off x="2251827" y="4936761"/>
              <a:ext cx="4015623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8541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455" t="-108065" r="-101818" b="-21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1684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455" t="-211475" r="-101818" b="-1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455" t="-311475" r="-101818" b="-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1356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Table 39">
                <a:extLst>
                  <a:ext uri="{FF2B5EF4-FFF2-40B4-BE49-F238E27FC236}">
                    <a16:creationId xmlns:a16="http://schemas.microsoft.com/office/drawing/2014/main" id="{A7CE9FCB-0855-D896-D3CE-012E4D49B7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0352984"/>
                  </p:ext>
                </p:extLst>
              </p:nvPr>
            </p:nvGraphicFramePr>
            <p:xfrm>
              <a:off x="6843405" y="4936761"/>
              <a:ext cx="4015623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8541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1684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Table 39">
                <a:extLst>
                  <a:ext uri="{FF2B5EF4-FFF2-40B4-BE49-F238E27FC236}">
                    <a16:creationId xmlns:a16="http://schemas.microsoft.com/office/drawing/2014/main" id="{A7CE9FCB-0855-D896-D3CE-012E4D49B7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0352984"/>
                  </p:ext>
                </p:extLst>
              </p:nvPr>
            </p:nvGraphicFramePr>
            <p:xfrm>
              <a:off x="6843405" y="4936761"/>
              <a:ext cx="4015623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8541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0455" t="-108065" r="-101818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1684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0455" t="-211475" r="-101818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152AB-9847-0D91-2D1E-861D43187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>
            <a:extLst>
              <a:ext uri="{FF2B5EF4-FFF2-40B4-BE49-F238E27FC236}">
                <a16:creationId xmlns:a16="http://schemas.microsoft.com/office/drawing/2014/main" id="{8C1194F0-C98F-A37F-D520-034F156DB9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8F15E58-DE7A-92D5-26B2-486091E028FC}"/>
              </a:ext>
            </a:extLst>
          </p:cNvPr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2FD758-2DDF-59D7-CA15-D50116932FC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2B3ED9-5082-AFE0-EE53-910073B264C8}"/>
              </a:ext>
            </a:extLst>
          </p:cNvPr>
          <p:cNvSpPr/>
          <p:nvPr/>
        </p:nvSpPr>
        <p:spPr>
          <a:xfrm>
            <a:off x="561826" y="1529794"/>
            <a:ext cx="11064950" cy="5072289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C2FC5C-1301-669A-64FC-F3BB20382E6E}"/>
                  </a:ext>
                </a:extLst>
              </p:cNvPr>
              <p:cNvSpPr txBox="1"/>
              <p:nvPr/>
            </p:nvSpPr>
            <p:spPr>
              <a:xfrm>
                <a:off x="741533" y="1799115"/>
                <a:ext cx="10650367" cy="2339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Cho 2 quan hệ R và S Khả hợp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Phép hợp của R và S :</a:t>
                </a:r>
              </a:p>
              <a:p>
                <a:pPr marL="285750" indent="-285750">
                  <a:buFontTx/>
                  <a:buChar char="-"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+mj-lt"/>
                  </a:rPr>
                  <a:t>Ký hiệu R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vi-VN" sz="2500" dirty="0">
                    <a:solidFill>
                      <a:prstClr val="black"/>
                    </a:solidFill>
                    <a:latin typeface="+mj-lt"/>
                  </a:rPr>
                  <a:t> S</a:t>
                </a:r>
              </a:p>
              <a:p>
                <a:pPr marL="285750" indent="-285750">
                  <a:buFontTx/>
                  <a:buChar char="-"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+mj-lt"/>
                  </a:rPr>
                  <a:t>Là một quan hệ gồm các bộ thuộc R và không thuộc S)</a:t>
                </a:r>
              </a:p>
              <a:p>
                <a:pPr>
                  <a:defRPr/>
                </a:pPr>
                <a:r>
                  <a:rPr lang="vi-VN" sz="2300" dirty="0">
                    <a:solidFill>
                      <a:prstClr val="black"/>
                    </a:solidFill>
                    <a:latin typeface="+mj-lt"/>
                  </a:rPr>
                  <a:t>Ký hiệu :				</a:t>
                </a:r>
              </a:p>
              <a:p>
                <a:pPr>
                  <a:defRPr/>
                </a:pPr>
                <a:r>
                  <a:rPr lang="vi-VN" sz="2300" dirty="0">
                    <a:solidFill>
                      <a:prstClr val="black"/>
                    </a:solidFill>
                    <a:latin typeface="+mj-lt"/>
                  </a:rPr>
                  <a:t>				</a:t>
                </a:r>
                <a:endParaRPr kumimoji="0" 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C2FC5C-1301-669A-64FC-F3BB20382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33" y="1799115"/>
                <a:ext cx="10650367" cy="2339102"/>
              </a:xfrm>
              <a:prstGeom prst="rect">
                <a:avLst/>
              </a:prstGeom>
              <a:blipFill>
                <a:blip r:embed="rId4"/>
                <a:stretch>
                  <a:fillRect l="-973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3B0D32E-1DE5-09F7-30B4-57A5965BAA1D}"/>
              </a:ext>
            </a:extLst>
          </p:cNvPr>
          <p:cNvSpPr txBox="1"/>
          <p:nvPr/>
        </p:nvSpPr>
        <p:spPr>
          <a:xfrm>
            <a:off x="559954" y="4771137"/>
            <a:ext cx="135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0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Ví Dụ 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05E88A-C6B2-8DC4-19BB-4EB5B6466A1A}"/>
              </a:ext>
            </a:extLst>
          </p:cNvPr>
          <p:cNvSpPr/>
          <p:nvPr/>
        </p:nvSpPr>
        <p:spPr>
          <a:xfrm>
            <a:off x="561826" y="1210477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C003EB0-DB6F-3536-B092-4F2A0BDCB87A}"/>
              </a:ext>
            </a:extLst>
          </p:cNvPr>
          <p:cNvSpPr/>
          <p:nvPr/>
        </p:nvSpPr>
        <p:spPr>
          <a:xfrm>
            <a:off x="741864" y="129141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F4B3F7D-3755-0BC4-407F-800F1A9EB200}"/>
              </a:ext>
            </a:extLst>
          </p:cNvPr>
          <p:cNvSpPr/>
          <p:nvPr/>
        </p:nvSpPr>
        <p:spPr>
          <a:xfrm>
            <a:off x="1022778" y="129141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A5D82D9-7C0F-B390-06E3-419C0D8C34FF}"/>
              </a:ext>
            </a:extLst>
          </p:cNvPr>
          <p:cNvSpPr/>
          <p:nvPr/>
        </p:nvSpPr>
        <p:spPr>
          <a:xfrm>
            <a:off x="1282289" y="129141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E7D2FFB-8FC7-64CE-D2EA-37DC068E5716}"/>
              </a:ext>
            </a:extLst>
          </p:cNvPr>
          <p:cNvGrpSpPr/>
          <p:nvPr/>
        </p:nvGrpSpPr>
        <p:grpSpPr>
          <a:xfrm>
            <a:off x="561826" y="186144"/>
            <a:ext cx="11122173" cy="854119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3926084-6A7A-8272-0382-B975A7F7722A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9199E4D-1638-36DF-301F-5F14C16E248B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8DCC4F16-A979-BC78-9A0F-99B8016DE0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6"/>
                <a:ext cx="11348435" cy="673756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vi-V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Phép Hiệu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7E4354D-76DE-7533-4667-2D67F43353D5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vi-VN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2A860349-4AD0-46A0-3427-D49F577AC025}"/>
              </a:ext>
            </a:extLst>
          </p:cNvPr>
          <p:cNvSpPr/>
          <p:nvPr/>
        </p:nvSpPr>
        <p:spPr>
          <a:xfrm>
            <a:off x="3457143" y="3819788"/>
            <a:ext cx="5632450" cy="6416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DF67E8F-71D7-FE7F-5C07-C86A5C573EFE}"/>
                  </a:ext>
                </a:extLst>
              </p:cNvPr>
              <p:cNvSpPr txBox="1"/>
              <p:nvPr/>
            </p:nvSpPr>
            <p:spPr>
              <a:xfrm>
                <a:off x="3457143" y="3903732"/>
                <a:ext cx="563245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5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vi-VN" sz="25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DF67E8F-71D7-FE7F-5C07-C86A5C573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143" y="3903732"/>
                <a:ext cx="5632450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65FC60F-A915-5985-F5E5-C06345642D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1759225"/>
                  </p:ext>
                </p:extLst>
              </p:nvPr>
            </p:nvGraphicFramePr>
            <p:xfrm>
              <a:off x="2251827" y="4936761"/>
              <a:ext cx="4015623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8541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1684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1356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65FC60F-A915-5985-F5E5-C06345642D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1759225"/>
                  </p:ext>
                </p:extLst>
              </p:nvPr>
            </p:nvGraphicFramePr>
            <p:xfrm>
              <a:off x="2251827" y="4936761"/>
              <a:ext cx="4015623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8541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455" t="-108065" r="-101818" b="-21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1684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455" t="-211475" r="-101818" b="-1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455" t="-311475" r="-101818" b="-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1356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1199846-ED64-D75D-4C3B-ECCED0F915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8787437"/>
                  </p:ext>
                </p:extLst>
              </p:nvPr>
            </p:nvGraphicFramePr>
            <p:xfrm>
              <a:off x="6843405" y="4936761"/>
              <a:ext cx="4015623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8541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1684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1199846-ED64-D75D-4C3B-ECCED0F915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8787437"/>
                  </p:ext>
                </p:extLst>
              </p:nvPr>
            </p:nvGraphicFramePr>
            <p:xfrm>
              <a:off x="6843405" y="4936761"/>
              <a:ext cx="4015623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8541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0455" t="-108065" r="-101818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1684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0455" t="-211475" r="-101818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8519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7B747-57B8-136C-D608-BA38E7509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>
            <a:extLst>
              <a:ext uri="{FF2B5EF4-FFF2-40B4-BE49-F238E27FC236}">
                <a16:creationId xmlns:a16="http://schemas.microsoft.com/office/drawing/2014/main" id="{B78EB075-022D-72B8-7013-40CD26C89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0F8D53C-F981-1759-7055-27AE1DC03D22}"/>
              </a:ext>
            </a:extLst>
          </p:cNvPr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A2FEF7-E6D8-55A3-15BF-488A81FEAA9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2F8AC7-A409-38AF-4226-193AFCBA49B2}"/>
              </a:ext>
            </a:extLst>
          </p:cNvPr>
          <p:cNvSpPr/>
          <p:nvPr/>
        </p:nvSpPr>
        <p:spPr>
          <a:xfrm>
            <a:off x="561826" y="1532098"/>
            <a:ext cx="11064950" cy="5072289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D0E44-4E33-7CF7-3875-598B5C3BC9FB}"/>
              </a:ext>
            </a:extLst>
          </p:cNvPr>
          <p:cNvSpPr txBox="1"/>
          <p:nvPr/>
        </p:nvSpPr>
        <p:spPr>
          <a:xfrm>
            <a:off x="739661" y="1799115"/>
            <a:ext cx="1065224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vi-VN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Được dùng để kết hợp các bộ của các quan hệ lại với nhau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500" dirty="0">
                <a:solidFill>
                  <a:prstClr val="black"/>
                </a:solidFill>
                <a:latin typeface="Calibri" panose="020F0502020204030204"/>
              </a:rPr>
              <a:t>Ký hiệu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vi-VN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vi-VN" sz="25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vi-VN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vi-VN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Kết quả trả về là một quan hệ Q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lang="vi-VN" sz="2500" dirty="0">
                <a:solidFill>
                  <a:prstClr val="black"/>
                </a:solidFill>
                <a:latin typeface="Calibri" panose="020F0502020204030204"/>
              </a:rPr>
              <a:t>Mỗi bộ của Q là một tổ hợp giữa 1 bộ trong R và 1 bộ trong 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kumimoji="0" lang="vi-VN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Nếu R có u bộ và S có v bộ thì Q sẽ có u x v bộ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lang="vi-VN" sz="2500" dirty="0">
                <a:solidFill>
                  <a:prstClr val="black"/>
                </a:solidFill>
                <a:latin typeface="Calibri" panose="020F0502020204030204"/>
              </a:rPr>
              <a:t>Nếu R có n thuộc tính và S có m thuộc tính thì Q sẽ có m + n thuộc tính 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59AEE-C40D-0FE5-2F41-CA8470F7677E}"/>
              </a:ext>
            </a:extLst>
          </p:cNvPr>
          <p:cNvSpPr txBox="1"/>
          <p:nvPr/>
        </p:nvSpPr>
        <p:spPr>
          <a:xfrm>
            <a:off x="696815" y="5579050"/>
            <a:ext cx="135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0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Ví Dụ 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CD9A8D-DA6F-5F99-EACF-D81BFA2273E7}"/>
              </a:ext>
            </a:extLst>
          </p:cNvPr>
          <p:cNvSpPr/>
          <p:nvPr/>
        </p:nvSpPr>
        <p:spPr>
          <a:xfrm>
            <a:off x="561826" y="1210477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D11457-50FB-D518-DA26-C432143C6156}"/>
              </a:ext>
            </a:extLst>
          </p:cNvPr>
          <p:cNvSpPr/>
          <p:nvPr/>
        </p:nvSpPr>
        <p:spPr>
          <a:xfrm>
            <a:off x="741864" y="129141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FC48A53-D507-0191-2B6D-9729A02CB8D5}"/>
              </a:ext>
            </a:extLst>
          </p:cNvPr>
          <p:cNvSpPr/>
          <p:nvPr/>
        </p:nvSpPr>
        <p:spPr>
          <a:xfrm>
            <a:off x="1022778" y="129141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4B8C442-47B0-997F-34C1-77BAB6CB3E28}"/>
              </a:ext>
            </a:extLst>
          </p:cNvPr>
          <p:cNvSpPr/>
          <p:nvPr/>
        </p:nvSpPr>
        <p:spPr>
          <a:xfrm>
            <a:off x="1282289" y="129141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A3CEF21-8A7C-0298-E015-57828628696C}"/>
              </a:ext>
            </a:extLst>
          </p:cNvPr>
          <p:cNvGrpSpPr/>
          <p:nvPr/>
        </p:nvGrpSpPr>
        <p:grpSpPr>
          <a:xfrm>
            <a:off x="561826" y="186144"/>
            <a:ext cx="11122173" cy="854119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CA3E92F-629D-3D47-8A04-677F2F342571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64F599A-6DED-E4D4-7F51-60446F3F1D68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2518A1DD-6B73-2537-0144-6D450AAB9B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6"/>
                <a:ext cx="11348435" cy="673756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vi-V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Phép Tích Descastes 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3E517D0-B693-70EE-F575-CB046B69FF76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vi-VN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631E8F11-ACA8-846A-D0E6-978EC0D1A28E}"/>
              </a:ext>
            </a:extLst>
          </p:cNvPr>
          <p:cNvSpPr/>
          <p:nvPr/>
        </p:nvSpPr>
        <p:spPr>
          <a:xfrm>
            <a:off x="3740150" y="2595371"/>
            <a:ext cx="4544936" cy="61767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C91A11A-DA60-8E46-7339-E6F2D855A43B}"/>
                  </a:ext>
                </a:extLst>
              </p:cNvPr>
              <p:cNvSpPr txBox="1"/>
              <p:nvPr/>
            </p:nvSpPr>
            <p:spPr>
              <a:xfrm>
                <a:off x="3740150" y="2621887"/>
                <a:ext cx="4544936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5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vi-VN" sz="25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C91A11A-DA60-8E46-7339-E6F2D855A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150" y="2621887"/>
                <a:ext cx="4544936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7FA94EA7-596A-BDA9-ECFE-76FF0269E998}"/>
              </a:ext>
            </a:extLst>
          </p:cNvPr>
          <p:cNvSpPr txBox="1"/>
          <p:nvPr/>
        </p:nvSpPr>
        <p:spPr>
          <a:xfrm>
            <a:off x="741532" y="5082316"/>
            <a:ext cx="10236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5869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6750D-243C-B42D-D85B-A299BD4AA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>
            <a:extLst>
              <a:ext uri="{FF2B5EF4-FFF2-40B4-BE49-F238E27FC236}">
                <a16:creationId xmlns:a16="http://schemas.microsoft.com/office/drawing/2014/main" id="{3E29AD7C-D6BD-164D-B1E7-94F9A9C44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AB8CBA1-CF7A-5452-360F-0D12FE3B9BB8}"/>
              </a:ext>
            </a:extLst>
          </p:cNvPr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100A3E-6120-4873-BCF7-EED49432AFB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7777D4-E7E0-ED31-B04C-FE753C6A766A}"/>
              </a:ext>
            </a:extLst>
          </p:cNvPr>
          <p:cNvSpPr/>
          <p:nvPr/>
        </p:nvSpPr>
        <p:spPr>
          <a:xfrm>
            <a:off x="563525" y="1529794"/>
            <a:ext cx="11064950" cy="5072289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CF3E1B-004A-F25C-A5A1-B3B6488F2012}"/>
              </a:ext>
            </a:extLst>
          </p:cNvPr>
          <p:cNvSpPr txBox="1"/>
          <p:nvPr/>
        </p:nvSpPr>
        <p:spPr>
          <a:xfrm>
            <a:off x="602622" y="1700008"/>
            <a:ext cx="135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0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Ví Dụ 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67B8AC-5DBC-C735-BF19-83A72BD5AE6F}"/>
              </a:ext>
            </a:extLst>
          </p:cNvPr>
          <p:cNvSpPr/>
          <p:nvPr/>
        </p:nvSpPr>
        <p:spPr>
          <a:xfrm>
            <a:off x="561826" y="1210477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2FDF3FB-8EAD-534E-3DFC-F3D39A6B68CB}"/>
              </a:ext>
            </a:extLst>
          </p:cNvPr>
          <p:cNvSpPr/>
          <p:nvPr/>
        </p:nvSpPr>
        <p:spPr>
          <a:xfrm>
            <a:off x="741864" y="129141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1116F16-9595-CF89-1AD8-32EC4E0AFF6A}"/>
              </a:ext>
            </a:extLst>
          </p:cNvPr>
          <p:cNvSpPr/>
          <p:nvPr/>
        </p:nvSpPr>
        <p:spPr>
          <a:xfrm>
            <a:off x="1022778" y="129141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33135A2-9A82-8F29-1414-ED20ACCCBB4C}"/>
              </a:ext>
            </a:extLst>
          </p:cNvPr>
          <p:cNvSpPr/>
          <p:nvPr/>
        </p:nvSpPr>
        <p:spPr>
          <a:xfrm>
            <a:off x="1282289" y="129141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095DD8C-FD6C-1367-97EB-E9EA5DC87680}"/>
              </a:ext>
            </a:extLst>
          </p:cNvPr>
          <p:cNvGrpSpPr/>
          <p:nvPr/>
        </p:nvGrpSpPr>
        <p:grpSpPr>
          <a:xfrm>
            <a:off x="561826" y="186144"/>
            <a:ext cx="11122173" cy="854119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3A13C49-BB04-FBC3-30C5-580436AC3B30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A7CA5D5-7DE0-8B78-9030-03B9251A2F9B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D3FAF481-C25E-F10F-843B-92F44ABBA3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6"/>
                <a:ext cx="11348435" cy="673756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vi-V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Phép Tích Descastes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1011175-8BD1-640B-2A26-8B9B5E1CF6AF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vi-VN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AFFCF3C-FEEB-77EC-8700-4E3A7AE775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6036408"/>
                  </p:ext>
                </p:extLst>
              </p:nvPr>
            </p:nvGraphicFramePr>
            <p:xfrm>
              <a:off x="1116971" y="2419435"/>
              <a:ext cx="364552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5176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215176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215176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1356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AFFCF3C-FEEB-77EC-8700-4E3A7AE775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6036408"/>
                  </p:ext>
                </p:extLst>
              </p:nvPr>
            </p:nvGraphicFramePr>
            <p:xfrm>
              <a:off x="1116971" y="2419435"/>
              <a:ext cx="364552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5176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215176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215176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005" t="-108065" r="-102513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005" t="-211475" r="-102513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1356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E7F6160-13A4-2568-4D8B-D62B42157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1760229"/>
                  </p:ext>
                </p:extLst>
              </p:nvPr>
            </p:nvGraphicFramePr>
            <p:xfrm>
              <a:off x="1116971" y="4065938"/>
              <a:ext cx="403155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7888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944584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  <a:gridCol w="1071191">
                      <a:extLst>
                        <a:ext uri="{9D8B030D-6E8A-4147-A177-3AD203B41FA5}">
                          <a16:colId xmlns:a16="http://schemas.microsoft.com/office/drawing/2014/main" val="2156737778"/>
                        </a:ext>
                      </a:extLst>
                    </a:gridCol>
                    <a:gridCol w="1007888">
                      <a:extLst>
                        <a:ext uri="{9D8B030D-6E8A-4147-A177-3AD203B41FA5}">
                          <a16:colId xmlns:a16="http://schemas.microsoft.com/office/drawing/2014/main" val="7847996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D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8349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i="1" dirty="0">
                              <a:sym typeface="Symbol" panose="05050102010706020507" pitchFamily="18" charset="2"/>
                            </a:rPr>
                            <a:t></a:t>
                          </a:r>
                          <a:endParaRPr lang="en-US" sz="1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85183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E7F6160-13A4-2568-4D8B-D62B42157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1760229"/>
                  </p:ext>
                </p:extLst>
              </p:nvPr>
            </p:nvGraphicFramePr>
            <p:xfrm>
              <a:off x="1116971" y="4065938"/>
              <a:ext cx="403155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7888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944584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  <a:gridCol w="1071191">
                      <a:extLst>
                        <a:ext uri="{9D8B030D-6E8A-4147-A177-3AD203B41FA5}">
                          <a16:colId xmlns:a16="http://schemas.microsoft.com/office/drawing/2014/main" val="2156737778"/>
                        </a:ext>
                      </a:extLst>
                    </a:gridCol>
                    <a:gridCol w="1007888">
                      <a:extLst>
                        <a:ext uri="{9D8B030D-6E8A-4147-A177-3AD203B41FA5}">
                          <a16:colId xmlns:a16="http://schemas.microsoft.com/office/drawing/2014/main" val="7847996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D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7742" t="-109836" r="-2225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7742" t="-206452" r="-222581" b="-21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8349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7742" t="-311475" r="-222581" b="-1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i="1" dirty="0">
                              <a:sym typeface="Symbol" panose="05050102010706020507" pitchFamily="18" charset="2"/>
                            </a:rPr>
                            <a:t></a:t>
                          </a:r>
                          <a:endParaRPr lang="en-US" sz="1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851831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0492CFE-C729-8ACC-A009-06D2B2A6BC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1339008"/>
                  </p:ext>
                </p:extLst>
              </p:nvPr>
            </p:nvGraphicFramePr>
            <p:xfrm>
              <a:off x="5710523" y="1849111"/>
              <a:ext cx="5495616" cy="43497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5936">
                      <a:extLst>
                        <a:ext uri="{9D8B030D-6E8A-4147-A177-3AD203B41FA5}">
                          <a16:colId xmlns:a16="http://schemas.microsoft.com/office/drawing/2014/main" val="2738166357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3398831985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1915917061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3735313248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224668461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2129512786"/>
                        </a:ext>
                      </a:extLst>
                    </a:gridCol>
                  </a:tblGrid>
                  <a:tr h="4833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80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pt-BR" sz="1800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pt-BR" sz="180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vi-VN" sz="1800" dirty="0">
                            <a:solidFill>
                              <a:prstClr val="black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R.B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S.B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D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3156537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4011364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5526770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6402029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1" dirty="0">
                              <a:sym typeface="Symbol" panose="05050102010706020507" pitchFamily="18" charset="2"/>
                            </a:rPr>
                            <a:t></a:t>
                          </a:r>
                          <a:endParaRPr lang="en-US" sz="1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6203680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5142090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58651656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7626036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1" dirty="0">
                              <a:sym typeface="Symbol" panose="05050102010706020507" pitchFamily="18" charset="2"/>
                            </a:rPr>
                            <a:t></a:t>
                          </a:r>
                          <a:endParaRPr lang="en-US" sz="1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22862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0492CFE-C729-8ACC-A009-06D2B2A6BC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1339008"/>
                  </p:ext>
                </p:extLst>
              </p:nvPr>
            </p:nvGraphicFramePr>
            <p:xfrm>
              <a:off x="5710523" y="1849111"/>
              <a:ext cx="5495616" cy="43497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5936">
                      <a:extLst>
                        <a:ext uri="{9D8B030D-6E8A-4147-A177-3AD203B41FA5}">
                          <a16:colId xmlns:a16="http://schemas.microsoft.com/office/drawing/2014/main" val="2738166357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3398831985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1915917061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3735313248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224668461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2129512786"/>
                        </a:ext>
                      </a:extLst>
                    </a:gridCol>
                  </a:tblGrid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662" t="-7595" r="-500662" b="-8063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R.B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S.B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D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3156537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1333" t="-106250" r="-404000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02000" t="-106250" r="-203333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4011364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1333" t="-208861" r="-404000" b="-605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02000" t="-208861" r="-203333" b="-605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5526770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1333" t="-308861" r="-404000" b="-505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02000" t="-308861" r="-203333" b="-505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6402029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1333" t="-403750" r="-404000" b="-39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1" dirty="0">
                              <a:sym typeface="Symbol" panose="05050102010706020507" pitchFamily="18" charset="2"/>
                            </a:rPr>
                            <a:t></a:t>
                          </a:r>
                          <a:endParaRPr lang="en-US" sz="1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6203680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1333" t="-510127" r="-404000" b="-3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02000" t="-510127" r="-203333" b="-3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5142090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1333" t="-610127" r="-404000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02000" t="-610127" r="-203333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58651656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1333" t="-701250" r="-404000" b="-1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02000" t="-701250" r="-203333" b="-1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7626036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1333" t="-811392" r="-404000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1" dirty="0">
                              <a:sym typeface="Symbol" panose="05050102010706020507" pitchFamily="18" charset="2"/>
                            </a:rPr>
                            <a:t></a:t>
                          </a:r>
                          <a:endParaRPr lang="en-US" sz="1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228628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85173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138E6-6561-19E2-A3FE-8593BEB85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59A784-F8C9-27B6-96C9-3CF28B27961B}"/>
              </a:ext>
            </a:extLst>
          </p:cNvPr>
          <p:cNvSpPr/>
          <p:nvPr/>
        </p:nvSpPr>
        <p:spPr>
          <a:xfrm rot="1062213">
            <a:off x="1981200" y="-685800"/>
            <a:ext cx="82296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DB3E78-EE2C-17E9-7BF0-C1D0132C5616}"/>
              </a:ext>
            </a:extLst>
          </p:cNvPr>
          <p:cNvSpPr/>
          <p:nvPr/>
        </p:nvSpPr>
        <p:spPr>
          <a:xfrm rot="21137942">
            <a:off x="2667000" y="-1"/>
            <a:ext cx="6858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6490BF-0E15-8136-481B-F99E8EBCB973}"/>
              </a:ext>
            </a:extLst>
          </p:cNvPr>
          <p:cNvSpPr/>
          <p:nvPr/>
        </p:nvSpPr>
        <p:spPr>
          <a:xfrm rot="20322364">
            <a:off x="3489960" y="763625"/>
            <a:ext cx="5212080" cy="52120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B05E66-4DE6-3D1C-05C1-D1D498B13F88}"/>
              </a:ext>
            </a:extLst>
          </p:cNvPr>
          <p:cNvSpPr/>
          <p:nvPr/>
        </p:nvSpPr>
        <p:spPr>
          <a:xfrm rot="18885526">
            <a:off x="4312920" y="1645919"/>
            <a:ext cx="3566160" cy="35661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6450612-88D9-2F08-A821-46CF986BD56C}"/>
              </a:ext>
            </a:extLst>
          </p:cNvPr>
          <p:cNvCxnSpPr/>
          <p:nvPr/>
        </p:nvCxnSpPr>
        <p:spPr>
          <a:xfrm flipV="1">
            <a:off x="3303985" y="1435628"/>
            <a:ext cx="1876612" cy="782482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A05B5D7-4CB8-98BF-A70E-5C75C88C87F4}"/>
              </a:ext>
            </a:extLst>
          </p:cNvPr>
          <p:cNvGrpSpPr/>
          <p:nvPr/>
        </p:nvGrpSpPr>
        <p:grpSpPr>
          <a:xfrm>
            <a:off x="873588" y="1690881"/>
            <a:ext cx="2550217" cy="2572775"/>
            <a:chOff x="1009931" y="1857639"/>
            <a:chExt cx="3068721" cy="3095865"/>
          </a:xfrm>
          <a:effectLst>
            <a:outerShdw blurRad="368300" dist="762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96A1C2C-D090-A80A-E507-1982FEF6EE1F}"/>
                </a:ext>
              </a:extLst>
            </p:cNvPr>
            <p:cNvSpPr/>
            <p:nvPr/>
          </p:nvSpPr>
          <p:spPr>
            <a:xfrm>
              <a:off x="1009931" y="1857639"/>
              <a:ext cx="3068721" cy="3095865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495300" dist="50800" dir="7200000" algn="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ristote" panose="020406030505060202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B8DD83A-B9D3-AC79-A606-D263F6F87DAE}"/>
                </a:ext>
              </a:extLst>
            </p:cNvPr>
            <p:cNvSpPr txBox="1"/>
            <p:nvPr/>
          </p:nvSpPr>
          <p:spPr>
            <a:xfrm>
              <a:off x="1071540" y="2812233"/>
              <a:ext cx="2949163" cy="1499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2500" b="1" dirty="0">
                  <a:solidFill>
                    <a:srgbClr val="FF4266"/>
                  </a:solidFill>
                  <a:latin typeface="Arial" panose="020B0604020202020204" pitchFamily="34" charset="0"/>
                  <a:ea typeface="Fillmore" panose="02020500000000000000" pitchFamily="18" charset="0"/>
                  <a:cs typeface="Arial" panose="020B0604020202020204" pitchFamily="34" charset="0"/>
                </a:rPr>
                <a:t>Nhóm các toán tử quan hệ cơ bản</a:t>
              </a:r>
              <a:endParaRPr lang="en-US" sz="2500" b="1" dirty="0">
                <a:solidFill>
                  <a:srgbClr val="FF4266"/>
                </a:solidFill>
                <a:latin typeface="Arial" panose="020B0604020202020204" pitchFamily="34" charset="0"/>
                <a:ea typeface="Fillmore" panose="02020500000000000000" pitchFamily="18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D879171-0F76-7DEE-BB73-50EB15E62684}"/>
              </a:ext>
            </a:extLst>
          </p:cNvPr>
          <p:cNvGrpSpPr/>
          <p:nvPr/>
        </p:nvGrpSpPr>
        <p:grpSpPr>
          <a:xfrm>
            <a:off x="4184937" y="666403"/>
            <a:ext cx="6358026" cy="1311028"/>
            <a:chOff x="4363267" y="739989"/>
            <a:chExt cx="6358026" cy="1311028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97F97A5-80E9-9B05-7D29-E168F66EF239}"/>
                </a:ext>
              </a:extLst>
            </p:cNvPr>
            <p:cNvGrpSpPr/>
            <p:nvPr/>
          </p:nvGrpSpPr>
          <p:grpSpPr>
            <a:xfrm>
              <a:off x="4363267" y="739989"/>
              <a:ext cx="1357495" cy="1311028"/>
              <a:chOff x="5018363" y="1490628"/>
              <a:chExt cx="1357495" cy="1311028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C49D0AE6-FABA-FC12-3ECA-C69FC6CA7E81}"/>
                  </a:ext>
                </a:extLst>
              </p:cNvPr>
              <p:cNvGrpSpPr/>
              <p:nvPr/>
            </p:nvGrpSpPr>
            <p:grpSpPr>
              <a:xfrm>
                <a:off x="5018363" y="1490628"/>
                <a:ext cx="1357495" cy="1311028"/>
                <a:chOff x="3435222" y="2110090"/>
                <a:chExt cx="1357495" cy="1311028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C68006E9-7E72-507D-1E7A-B6595CAE2619}"/>
                    </a:ext>
                  </a:extLst>
                </p:cNvPr>
                <p:cNvSpPr/>
                <p:nvPr/>
              </p:nvSpPr>
              <p:spPr>
                <a:xfrm>
                  <a:off x="3435222" y="2110090"/>
                  <a:ext cx="1357495" cy="131102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50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  <a:effectLst>
                  <a:outerShdw blurRad="495300" dist="508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731CB4DB-A397-6282-D718-856A17E8C0D6}"/>
                    </a:ext>
                  </a:extLst>
                </p:cNvPr>
                <p:cNvSpPr/>
                <p:nvPr/>
              </p:nvSpPr>
              <p:spPr>
                <a:xfrm>
                  <a:off x="3556595" y="2221878"/>
                  <a:ext cx="1124587" cy="1086193"/>
                </a:xfrm>
                <a:prstGeom prst="ellipse">
                  <a:avLst/>
                </a:prstGeom>
                <a:solidFill>
                  <a:srgbClr val="34D4D0"/>
                </a:solidFill>
                <a:ln>
                  <a:noFill/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A30F725-9BE5-D3D4-37A1-1C490C410198}"/>
                  </a:ext>
                </a:extLst>
              </p:cNvPr>
              <p:cNvSpPr txBox="1"/>
              <p:nvPr/>
            </p:nvSpPr>
            <p:spPr>
              <a:xfrm>
                <a:off x="5349271" y="1802962"/>
                <a:ext cx="75062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>
                    <a:latin typeface="Arial" panose="020B0604020202020204" pitchFamily="34" charset="0"/>
                    <a:cs typeface="Arial" panose="020B0604020202020204" pitchFamily="34" charset="0"/>
                  </a:rPr>
                  <a:t>01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95F3D41-D123-ED20-9A3E-B5E444E547B0}"/>
                </a:ext>
              </a:extLst>
            </p:cNvPr>
            <p:cNvSpPr txBox="1"/>
            <p:nvPr/>
          </p:nvSpPr>
          <p:spPr>
            <a:xfrm>
              <a:off x="5974069" y="878559"/>
              <a:ext cx="35207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 dirty="0">
                  <a:solidFill>
                    <a:srgbClr val="34D4D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Phép Chọn</a:t>
              </a:r>
              <a:endParaRPr lang="en-US" sz="2800" b="1" dirty="0">
                <a:solidFill>
                  <a:srgbClr val="34D4D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065438E-D2C8-D27F-39B8-0FC950481619}"/>
                </a:ext>
              </a:extLst>
            </p:cNvPr>
            <p:cNvCxnSpPr/>
            <p:nvPr/>
          </p:nvCxnSpPr>
          <p:spPr>
            <a:xfrm>
              <a:off x="6083253" y="1463113"/>
              <a:ext cx="2533022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B8EB90-9032-C945-E98B-F9FF4288A6FD}"/>
                </a:ext>
              </a:extLst>
            </p:cNvPr>
            <p:cNvSpPr txBox="1"/>
            <p:nvPr/>
          </p:nvSpPr>
          <p:spPr>
            <a:xfrm>
              <a:off x="6001361" y="1498599"/>
              <a:ext cx="4719932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3AF7D3E-06D5-96B4-221A-82F9C7D15E4E}"/>
              </a:ext>
            </a:extLst>
          </p:cNvPr>
          <p:cNvGrpSpPr/>
          <p:nvPr/>
        </p:nvGrpSpPr>
        <p:grpSpPr>
          <a:xfrm>
            <a:off x="4570550" y="2427840"/>
            <a:ext cx="6497943" cy="1521173"/>
            <a:chOff x="4930479" y="2284313"/>
            <a:chExt cx="6497943" cy="1521173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D03548-1EF4-A893-B70D-39D471341CB3}"/>
                </a:ext>
              </a:extLst>
            </p:cNvPr>
            <p:cNvGrpSpPr/>
            <p:nvPr/>
          </p:nvGrpSpPr>
          <p:grpSpPr>
            <a:xfrm>
              <a:off x="4930479" y="2494458"/>
              <a:ext cx="1357495" cy="1311028"/>
              <a:chOff x="5018363" y="1490628"/>
              <a:chExt cx="1357495" cy="1311028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A7E3E94-FEFF-303B-7B5F-65BEBA913A01}"/>
                  </a:ext>
                </a:extLst>
              </p:cNvPr>
              <p:cNvGrpSpPr/>
              <p:nvPr/>
            </p:nvGrpSpPr>
            <p:grpSpPr>
              <a:xfrm>
                <a:off x="5018363" y="1490628"/>
                <a:ext cx="1357495" cy="1311028"/>
                <a:chOff x="3435222" y="2110090"/>
                <a:chExt cx="1357495" cy="1311028"/>
              </a:xfrm>
            </p:grpSpPr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70F0D3C7-CEC2-53AF-39DD-80C31D0DD219}"/>
                    </a:ext>
                  </a:extLst>
                </p:cNvPr>
                <p:cNvSpPr/>
                <p:nvPr/>
              </p:nvSpPr>
              <p:spPr>
                <a:xfrm>
                  <a:off x="3435222" y="2110090"/>
                  <a:ext cx="1357495" cy="131102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50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  <a:effectLst>
                  <a:outerShdw blurRad="495300" dist="508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DD1FE8E4-E52F-FAF2-9FDD-1E6CD789C72A}"/>
                    </a:ext>
                  </a:extLst>
                </p:cNvPr>
                <p:cNvSpPr/>
                <p:nvPr/>
              </p:nvSpPr>
              <p:spPr>
                <a:xfrm>
                  <a:off x="3556595" y="2221878"/>
                  <a:ext cx="1124587" cy="1086193"/>
                </a:xfrm>
                <a:prstGeom prst="ellipse">
                  <a:avLst/>
                </a:prstGeom>
                <a:solidFill>
                  <a:srgbClr val="FD7FA3"/>
                </a:solidFill>
                <a:ln>
                  <a:noFill/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D0BF342-8666-A366-827E-58BE27E6148B}"/>
                  </a:ext>
                </a:extLst>
              </p:cNvPr>
              <p:cNvSpPr txBox="1"/>
              <p:nvPr/>
            </p:nvSpPr>
            <p:spPr>
              <a:xfrm>
                <a:off x="5300839" y="1809890"/>
                <a:ext cx="87663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>
                    <a:latin typeface="Arial" panose="020B0604020202020204" pitchFamily="34" charset="0"/>
                    <a:cs typeface="Arial" panose="020B0604020202020204" pitchFamily="34" charset="0"/>
                  </a:rPr>
                  <a:t>02</a:t>
                </a: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5FFBD25-ED54-839B-6A13-AD09BBC607E6}"/>
                </a:ext>
              </a:extLst>
            </p:cNvPr>
            <p:cNvSpPr txBox="1"/>
            <p:nvPr/>
          </p:nvSpPr>
          <p:spPr>
            <a:xfrm>
              <a:off x="6479038" y="2284313"/>
              <a:ext cx="35207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 dirty="0">
                  <a:solidFill>
                    <a:srgbClr val="FD7F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Phép Chiếu</a:t>
              </a:r>
              <a:endParaRPr lang="en-US" sz="2800" b="1" dirty="0">
                <a:solidFill>
                  <a:srgbClr val="FD7FA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6A84AE2-F4C5-E997-067E-9B88C86D3F31}"/>
                </a:ext>
              </a:extLst>
            </p:cNvPr>
            <p:cNvCxnSpPr/>
            <p:nvPr/>
          </p:nvCxnSpPr>
          <p:spPr>
            <a:xfrm>
              <a:off x="6588222" y="2868867"/>
              <a:ext cx="48402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DC00F37-7901-DF42-F81D-FCF9906AAF53}"/>
              </a:ext>
            </a:extLst>
          </p:cNvPr>
          <p:cNvGrpSpPr/>
          <p:nvPr/>
        </p:nvGrpSpPr>
        <p:grpSpPr>
          <a:xfrm>
            <a:off x="4063564" y="4533336"/>
            <a:ext cx="7004929" cy="1311028"/>
            <a:chOff x="4424681" y="4426345"/>
            <a:chExt cx="7004929" cy="1311028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6D370C2-5EE6-7D3C-1601-8ADAC18A3DEC}"/>
                </a:ext>
              </a:extLst>
            </p:cNvPr>
            <p:cNvGrpSpPr/>
            <p:nvPr/>
          </p:nvGrpSpPr>
          <p:grpSpPr>
            <a:xfrm>
              <a:off x="4424681" y="4426345"/>
              <a:ext cx="1357495" cy="1311028"/>
              <a:chOff x="5018363" y="1490628"/>
              <a:chExt cx="1357495" cy="1311028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B5096A4-8997-11B9-00ED-040D5F2B0B4C}"/>
                  </a:ext>
                </a:extLst>
              </p:cNvPr>
              <p:cNvGrpSpPr/>
              <p:nvPr/>
            </p:nvGrpSpPr>
            <p:grpSpPr>
              <a:xfrm>
                <a:off x="5018363" y="1490628"/>
                <a:ext cx="1357495" cy="1311028"/>
                <a:chOff x="3435222" y="2110090"/>
                <a:chExt cx="1357495" cy="1311028"/>
              </a:xfrm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0CE79B93-5834-AD57-6743-4FC3DEAEAC5B}"/>
                    </a:ext>
                  </a:extLst>
                </p:cNvPr>
                <p:cNvSpPr/>
                <p:nvPr/>
              </p:nvSpPr>
              <p:spPr>
                <a:xfrm>
                  <a:off x="3435222" y="2110090"/>
                  <a:ext cx="1357495" cy="131102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50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  <a:effectLst>
                  <a:outerShdw blurRad="495300" dist="508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4F2664FD-6D50-C2C3-7755-19415EEF68E3}"/>
                    </a:ext>
                  </a:extLst>
                </p:cNvPr>
                <p:cNvSpPr/>
                <p:nvPr/>
              </p:nvSpPr>
              <p:spPr>
                <a:xfrm>
                  <a:off x="3556595" y="2221878"/>
                  <a:ext cx="1124587" cy="1086193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B162A61-E8A0-526D-370C-EBE6610DFFB5}"/>
                  </a:ext>
                </a:extLst>
              </p:cNvPr>
              <p:cNvSpPr txBox="1"/>
              <p:nvPr/>
            </p:nvSpPr>
            <p:spPr>
              <a:xfrm>
                <a:off x="5319235" y="1796351"/>
                <a:ext cx="88111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>
                    <a:latin typeface="Arial" panose="020B0604020202020204" pitchFamily="34" charset="0"/>
                    <a:cs typeface="Arial" panose="020B0604020202020204" pitchFamily="34" charset="0"/>
                  </a:rPr>
                  <a:t>03</a:t>
                </a: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211BC14-F1C5-C1B1-A7FA-3FABFEF56F51}"/>
                </a:ext>
              </a:extLst>
            </p:cNvPr>
            <p:cNvSpPr txBox="1"/>
            <p:nvPr/>
          </p:nvSpPr>
          <p:spPr>
            <a:xfrm>
              <a:off x="6124191" y="4442597"/>
              <a:ext cx="37586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Phép Đổi Tên</a:t>
              </a:r>
              <a:endParaRPr lang="en-US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1BE3101-4ADE-3A09-A91F-D120ED46015C}"/>
                </a:ext>
              </a:extLst>
            </p:cNvPr>
            <p:cNvCxnSpPr/>
            <p:nvPr/>
          </p:nvCxnSpPr>
          <p:spPr>
            <a:xfrm>
              <a:off x="6219728" y="5027151"/>
              <a:ext cx="5209882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34926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FE158-5790-ADBF-97D8-E33CD41E3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>
            <a:extLst>
              <a:ext uri="{FF2B5EF4-FFF2-40B4-BE49-F238E27FC236}">
                <a16:creationId xmlns:a16="http://schemas.microsoft.com/office/drawing/2014/main" id="{9945E3D6-9361-EB1B-5F2D-93D6FE3BAE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1D076E5-A9C1-1971-981F-CA705CF63CE1}"/>
              </a:ext>
            </a:extLst>
          </p:cNvPr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2EDDF2-65CC-2DFB-9F2A-E9524BFB437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E2B714-89DE-0FE4-A146-1158EC350F19}"/>
              </a:ext>
            </a:extLst>
          </p:cNvPr>
          <p:cNvSpPr/>
          <p:nvPr/>
        </p:nvSpPr>
        <p:spPr>
          <a:xfrm>
            <a:off x="559954" y="1529794"/>
            <a:ext cx="11064950" cy="5072289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868E8D-9118-B92D-9801-5E4F5B62945D}"/>
                  </a:ext>
                </a:extLst>
              </p:cNvPr>
              <p:cNvSpPr txBox="1"/>
              <p:nvPr/>
            </p:nvSpPr>
            <p:spPr>
              <a:xfrm>
                <a:off x="739661" y="1799115"/>
                <a:ext cx="10652240" cy="4324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Được dùng để lấy ra các bộ trong quan hệ R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Các bộ được chọn phải thỏa mãn điều kiện chọn P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Ký hiệu 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vi-VN" sz="25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vi-VN" sz="2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P là các biểu thức gồm các mệnh đề có dạng 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&lt;tên thuộc tính&gt; &lt;phép so sánh&gt; &lt;hằng số&gt;</a:t>
                </a:r>
              </a:p>
              <a:p>
                <a:pPr marL="342900" indent="-342900">
                  <a:buFontTx/>
                  <a:buChar char="-"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&lt;tên thuộc tính&gt; &lt;phép so sánh&gt; &lt;tên thuộc tính&gt;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defRPr/>
                </a:pPr>
                <a:endParaRPr lang="vi-VN" sz="25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&lt;phép so sánh&gt; : &lt; , &gt; , ≤ , ≥ , ≠ , =</a:t>
                </a:r>
              </a:p>
              <a:p>
                <a:pPr lvl="0"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Các mệnh đề được nối lại nhờ các phép  </a:t>
                </a:r>
                <a14:m>
                  <m:oMath xmlns:m="http://schemas.openxmlformats.org/officeDocument/2006/math">
                    <m:r>
                      <a:rPr lang="vi-VN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vi-VN" sz="2000" b="0" i="1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vi-VN" sz="2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868E8D-9118-B92D-9801-5E4F5B629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61" y="1799115"/>
                <a:ext cx="10652240" cy="4324261"/>
              </a:xfrm>
              <a:prstGeom prst="rect">
                <a:avLst/>
              </a:prstGeom>
              <a:blipFill>
                <a:blip r:embed="rId4"/>
                <a:stretch>
                  <a:fillRect l="-973" t="-987" b="-2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C82A32DF-B659-3B18-9543-E6782FFD47F6}"/>
              </a:ext>
            </a:extLst>
          </p:cNvPr>
          <p:cNvSpPr/>
          <p:nvPr/>
        </p:nvSpPr>
        <p:spPr>
          <a:xfrm>
            <a:off x="561826" y="1210477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29E282B-AAD5-68C5-A480-59F0804BEFE5}"/>
              </a:ext>
            </a:extLst>
          </p:cNvPr>
          <p:cNvSpPr/>
          <p:nvPr/>
        </p:nvSpPr>
        <p:spPr>
          <a:xfrm>
            <a:off x="741864" y="129141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A103B40-1C3D-DB6F-AF05-0D9B56E48C13}"/>
              </a:ext>
            </a:extLst>
          </p:cNvPr>
          <p:cNvSpPr/>
          <p:nvPr/>
        </p:nvSpPr>
        <p:spPr>
          <a:xfrm>
            <a:off x="1022778" y="129141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4252A6C-C262-DD61-063D-FA6B9A1C1918}"/>
              </a:ext>
            </a:extLst>
          </p:cNvPr>
          <p:cNvSpPr/>
          <p:nvPr/>
        </p:nvSpPr>
        <p:spPr>
          <a:xfrm>
            <a:off x="1282289" y="129141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841E43-5C1A-2942-CF02-91BC21247343}"/>
              </a:ext>
            </a:extLst>
          </p:cNvPr>
          <p:cNvGrpSpPr/>
          <p:nvPr/>
        </p:nvGrpSpPr>
        <p:grpSpPr>
          <a:xfrm>
            <a:off x="561826" y="186144"/>
            <a:ext cx="11122173" cy="854119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865A562-2AF2-D68A-AF61-9C1B32780223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95B9F12-A776-A1B9-174D-9C291F2A0861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58665F67-FB75-41A7-4941-F1DF1E4600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6"/>
                <a:ext cx="11348435" cy="673756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vi-V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Phép Chọn 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0F0DC64-A1A0-7241-6D7D-32D3FA2DE08B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vi-VN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4F294F2D-E198-D83E-8FCE-3EFA5A8276A8}"/>
              </a:ext>
            </a:extLst>
          </p:cNvPr>
          <p:cNvSpPr/>
          <p:nvPr/>
        </p:nvSpPr>
        <p:spPr>
          <a:xfrm>
            <a:off x="2997200" y="3115920"/>
            <a:ext cx="6350000" cy="5289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0C1E221-3FBA-5AD0-2100-5B318D92BB67}"/>
                  </a:ext>
                </a:extLst>
              </p:cNvPr>
              <p:cNvSpPr txBox="1"/>
              <p:nvPr/>
            </p:nvSpPr>
            <p:spPr>
              <a:xfrm>
                <a:off x="2995328" y="3115920"/>
                <a:ext cx="6350000" cy="511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r>
                        <a:rPr lang="en-US" sz="25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)={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nor/>
                        </m:rPr>
                        <a:rPr lang="en-US" sz="2500"/>
                        <m:t>true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0C1E221-3FBA-5AD0-2100-5B318D92B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328" y="3115920"/>
                <a:ext cx="6350000" cy="511807"/>
              </a:xfrm>
              <a:prstGeom prst="rect">
                <a:avLst/>
              </a:prstGeom>
              <a:blipFill>
                <a:blip r:embed="rId5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4FC7A72-E6F2-D2D2-49C6-D93C442ABF9D}"/>
              </a:ext>
            </a:extLst>
          </p:cNvPr>
          <p:cNvSpPr txBox="1"/>
          <p:nvPr/>
        </p:nvSpPr>
        <p:spPr>
          <a:xfrm>
            <a:off x="602622" y="6123376"/>
            <a:ext cx="135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0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Ví Dụ 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41898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1BE1A-9732-4475-3050-204BF99DA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>
            <a:extLst>
              <a:ext uri="{FF2B5EF4-FFF2-40B4-BE49-F238E27FC236}">
                <a16:creationId xmlns:a16="http://schemas.microsoft.com/office/drawing/2014/main" id="{ED17EA3F-DC10-5795-A25C-62A83ECF5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68B6804-F13C-6984-82E0-3A3D538B47F1}"/>
              </a:ext>
            </a:extLst>
          </p:cNvPr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FADC34-752B-8A62-C65D-CBB37289421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B73DCE-7485-1A14-AFB9-6F0DD4928595}"/>
              </a:ext>
            </a:extLst>
          </p:cNvPr>
          <p:cNvSpPr/>
          <p:nvPr/>
        </p:nvSpPr>
        <p:spPr>
          <a:xfrm>
            <a:off x="563525" y="1529794"/>
            <a:ext cx="11064950" cy="5072289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50771A-DFC9-3C10-EBD2-0B6763D6DDDF}"/>
              </a:ext>
            </a:extLst>
          </p:cNvPr>
          <p:cNvSpPr txBox="1"/>
          <p:nvPr/>
        </p:nvSpPr>
        <p:spPr>
          <a:xfrm>
            <a:off x="602622" y="1700008"/>
            <a:ext cx="135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0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Ví Dụ 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779ACA-078F-1605-C2BA-C1E7130B7B85}"/>
              </a:ext>
            </a:extLst>
          </p:cNvPr>
          <p:cNvSpPr/>
          <p:nvPr/>
        </p:nvSpPr>
        <p:spPr>
          <a:xfrm>
            <a:off x="561826" y="1210477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09B369A-0C5C-830B-014C-F12DB5380C6B}"/>
              </a:ext>
            </a:extLst>
          </p:cNvPr>
          <p:cNvSpPr/>
          <p:nvPr/>
        </p:nvSpPr>
        <p:spPr>
          <a:xfrm>
            <a:off x="741864" y="129141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6E0114-2751-3191-4E30-33E9C93180E1}"/>
              </a:ext>
            </a:extLst>
          </p:cNvPr>
          <p:cNvSpPr/>
          <p:nvPr/>
        </p:nvSpPr>
        <p:spPr>
          <a:xfrm>
            <a:off x="1022778" y="129141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DD2A350-5E7B-B69D-94F1-860093B919C8}"/>
              </a:ext>
            </a:extLst>
          </p:cNvPr>
          <p:cNvSpPr/>
          <p:nvPr/>
        </p:nvSpPr>
        <p:spPr>
          <a:xfrm>
            <a:off x="1282289" y="129141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FB43BD8-AE1D-EEB8-7D2B-4D6F5AF6E81F}"/>
              </a:ext>
            </a:extLst>
          </p:cNvPr>
          <p:cNvGrpSpPr/>
          <p:nvPr/>
        </p:nvGrpSpPr>
        <p:grpSpPr>
          <a:xfrm>
            <a:off x="561826" y="186144"/>
            <a:ext cx="11122173" cy="854119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72BE63D-93F8-7441-5ED3-E28F3BB80498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AC9CD77-CB2B-31A6-54E6-5172864E4D61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84C6DFA7-1291-77D2-3036-D5BD7DE864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6"/>
                <a:ext cx="11348435" cy="673756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vi-V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Phép Chọn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910185C-1F37-295F-3AAD-D5E08F7C768E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vi-VN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7F84014-4C8F-2484-A98B-4A2D692E0B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4920299"/>
                  </p:ext>
                </p:extLst>
              </p:nvPr>
            </p:nvGraphicFramePr>
            <p:xfrm>
              <a:off x="1022778" y="2647694"/>
              <a:ext cx="4471227" cy="21085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7807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1047599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  <a:gridCol w="1188014">
                      <a:extLst>
                        <a:ext uri="{9D8B030D-6E8A-4147-A177-3AD203B41FA5}">
                          <a16:colId xmlns:a16="http://schemas.microsoft.com/office/drawing/2014/main" val="2156737778"/>
                        </a:ext>
                      </a:extLst>
                    </a:gridCol>
                    <a:gridCol w="1117807">
                      <a:extLst>
                        <a:ext uri="{9D8B030D-6E8A-4147-A177-3AD203B41FA5}">
                          <a16:colId xmlns:a16="http://schemas.microsoft.com/office/drawing/2014/main" val="784799646"/>
                        </a:ext>
                      </a:extLst>
                    </a:gridCol>
                  </a:tblGrid>
                  <a:tr h="421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834954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i="1" dirty="0">
                              <a:sym typeface="Symbol" panose="05050102010706020507" pitchFamily="18" charset="2"/>
                            </a:rPr>
                            <a:t></a:t>
                          </a:r>
                          <a:endParaRPr lang="en-US" sz="1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85183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7F84014-4C8F-2484-A98B-4A2D692E0B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4920299"/>
                  </p:ext>
                </p:extLst>
              </p:nvPr>
            </p:nvGraphicFramePr>
            <p:xfrm>
              <a:off x="1022778" y="2647694"/>
              <a:ext cx="4471227" cy="21085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7807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1047599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  <a:gridCol w="1188014">
                      <a:extLst>
                        <a:ext uri="{9D8B030D-6E8A-4147-A177-3AD203B41FA5}">
                          <a16:colId xmlns:a16="http://schemas.microsoft.com/office/drawing/2014/main" val="2156737778"/>
                        </a:ext>
                      </a:extLst>
                    </a:gridCol>
                    <a:gridCol w="1117807">
                      <a:extLst>
                        <a:ext uri="{9D8B030D-6E8A-4147-A177-3AD203B41FA5}">
                          <a16:colId xmlns:a16="http://schemas.microsoft.com/office/drawing/2014/main" val="784799646"/>
                        </a:ext>
                      </a:extLst>
                    </a:gridCol>
                  </a:tblGrid>
                  <a:tr h="421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7558" t="-107143" r="-222674" b="-3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07143" r="-2174" b="-30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7558" t="-210145" r="-222674" b="-2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210145" r="-2174" b="-2086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834954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7558" t="-305714" r="-222674" b="-1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305714" r="-2174" b="-1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i="1" dirty="0">
                              <a:sym typeface="Symbol" panose="05050102010706020507" pitchFamily="18" charset="2"/>
                            </a:rPr>
                            <a:t></a:t>
                          </a:r>
                          <a:endParaRPr lang="en-US" sz="1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411594" r="-2174" b="-7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851831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79C9FE4-46E8-68A5-48E0-07C9AE316E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9520530"/>
                  </p:ext>
                </p:extLst>
              </p:nvPr>
            </p:nvGraphicFramePr>
            <p:xfrm>
              <a:off x="6543592" y="3095336"/>
              <a:ext cx="4361815" cy="13397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0454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1021964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  <a:gridCol w="1158943">
                      <a:extLst>
                        <a:ext uri="{9D8B030D-6E8A-4147-A177-3AD203B41FA5}">
                          <a16:colId xmlns:a16="http://schemas.microsoft.com/office/drawing/2014/main" val="2156737778"/>
                        </a:ext>
                      </a:extLst>
                    </a:gridCol>
                    <a:gridCol w="1090454">
                      <a:extLst>
                        <a:ext uri="{9D8B030D-6E8A-4147-A177-3AD203B41FA5}">
                          <a16:colId xmlns:a16="http://schemas.microsoft.com/office/drawing/2014/main" val="784799646"/>
                        </a:ext>
                      </a:extLst>
                    </a:gridCol>
                  </a:tblGrid>
                  <a:tr h="4465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4465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4465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79C9FE4-46E8-68A5-48E0-07C9AE316E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9520530"/>
                  </p:ext>
                </p:extLst>
              </p:nvPr>
            </p:nvGraphicFramePr>
            <p:xfrm>
              <a:off x="6543592" y="3095336"/>
              <a:ext cx="4361815" cy="13397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0454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1021964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  <a:gridCol w="1158943">
                      <a:extLst>
                        <a:ext uri="{9D8B030D-6E8A-4147-A177-3AD203B41FA5}">
                          <a16:colId xmlns:a16="http://schemas.microsoft.com/office/drawing/2014/main" val="2156737778"/>
                        </a:ext>
                      </a:extLst>
                    </a:gridCol>
                    <a:gridCol w="1090454">
                      <a:extLst>
                        <a:ext uri="{9D8B030D-6E8A-4147-A177-3AD203B41FA5}">
                          <a16:colId xmlns:a16="http://schemas.microsoft.com/office/drawing/2014/main" val="784799646"/>
                        </a:ext>
                      </a:extLst>
                    </a:gridCol>
                  </a:tblGrid>
                  <a:tr h="4465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4465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7143" t="-109589" r="-222619" b="-1041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0559" t="-109589" r="-2793" b="-1041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4465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7143" t="-206757" r="-222619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0559" t="-206757" r="-2793" b="-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31022020-5E64-E552-AE08-2904EA1C0AD2}"/>
              </a:ext>
            </a:extLst>
          </p:cNvPr>
          <p:cNvSpPr/>
          <p:nvPr/>
        </p:nvSpPr>
        <p:spPr>
          <a:xfrm>
            <a:off x="6545465" y="2029850"/>
            <a:ext cx="4338436" cy="5289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1C4561-2546-99BB-18E0-5C87E6166884}"/>
                  </a:ext>
                </a:extLst>
              </p:cNvPr>
              <p:cNvSpPr txBox="1"/>
              <p:nvPr/>
            </p:nvSpPr>
            <p:spPr>
              <a:xfrm>
                <a:off x="6566971" y="2021000"/>
                <a:ext cx="4338435" cy="528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d>
                            <m:dPr>
                              <m:ctrlPr>
                                <a:rPr lang="vi-VN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vi-VN" sz="25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vi-VN" sz="25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vi-VN" sz="25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vi-VN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vi-VN" sz="2800" i="1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vi-VN" sz="2800" dirty="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m:t>≥</m:t>
                          </m:r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vi-VN" sz="25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vi-VN" sz="25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vi-VN" sz="25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1C4561-2546-99BB-18E0-5C87E6166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971" y="2021000"/>
                <a:ext cx="4338435" cy="528030"/>
              </a:xfrm>
              <a:prstGeom prst="rect">
                <a:avLst/>
              </a:prstGeom>
              <a:blipFill>
                <a:blip r:embed="rId6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8193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67F9C-BDD3-744D-2864-0560E2C67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>
            <a:extLst>
              <a:ext uri="{FF2B5EF4-FFF2-40B4-BE49-F238E27FC236}">
                <a16:creationId xmlns:a16="http://schemas.microsoft.com/office/drawing/2014/main" id="{4A8D0FD1-AEFC-0D79-9826-2BE3831FB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AECD578-93DA-9460-F353-05131D475D98}"/>
              </a:ext>
            </a:extLst>
          </p:cNvPr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EB1E37-33B3-C90B-7502-C70FA2E77FC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11C20C-3AB3-8932-CACA-B8F4DFE4D4CE}"/>
              </a:ext>
            </a:extLst>
          </p:cNvPr>
          <p:cNvSpPr/>
          <p:nvPr/>
        </p:nvSpPr>
        <p:spPr>
          <a:xfrm>
            <a:off x="561826" y="1532098"/>
            <a:ext cx="11064950" cy="5072289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9ED923-1079-3EC8-3556-64ABD758A949}"/>
              </a:ext>
            </a:extLst>
          </p:cNvPr>
          <p:cNvSpPr txBox="1"/>
          <p:nvPr/>
        </p:nvSpPr>
        <p:spPr>
          <a:xfrm>
            <a:off x="739661" y="1799115"/>
            <a:ext cx="1065224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vi-VN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Được dùng để lấy ra một vài cột của quan hệ 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500" dirty="0">
                <a:solidFill>
                  <a:prstClr val="black"/>
                </a:solidFill>
                <a:latin typeface="Calibri" panose="020F0502020204030204"/>
              </a:rPr>
              <a:t>Ký hiệu: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vi-VN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vi-VN" sz="25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500" dirty="0">
                <a:solidFill>
                  <a:prstClr val="black"/>
                </a:solidFill>
                <a:latin typeface="Calibri" panose="020F0502020204030204"/>
              </a:rPr>
              <a:t>Kết quả trả về là một quan hệ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kumimoji="0" lang="vi-VN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Có n thuộc tính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kumimoji="0" lang="vi-VN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Có số bộ luôn ít hơn hoặc bằng số bộ của R</a:t>
            </a:r>
            <a:endParaRPr lang="vi-VN" sz="25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A0DE8-70B3-094A-BDCE-AAFA1E5271E0}"/>
              </a:ext>
            </a:extLst>
          </p:cNvPr>
          <p:cNvSpPr txBox="1"/>
          <p:nvPr/>
        </p:nvSpPr>
        <p:spPr>
          <a:xfrm>
            <a:off x="602622" y="4693527"/>
            <a:ext cx="135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0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Ví Dụ 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B26C38-12C3-AA79-5A84-85D828FFC627}"/>
              </a:ext>
            </a:extLst>
          </p:cNvPr>
          <p:cNvSpPr/>
          <p:nvPr/>
        </p:nvSpPr>
        <p:spPr>
          <a:xfrm>
            <a:off x="561826" y="1210477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3C6BD31-EDAB-D7B3-9A2E-ED386D13675A}"/>
              </a:ext>
            </a:extLst>
          </p:cNvPr>
          <p:cNvSpPr/>
          <p:nvPr/>
        </p:nvSpPr>
        <p:spPr>
          <a:xfrm>
            <a:off x="741864" y="129141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C1908C1-50BA-16B4-6C3B-E19364D061AD}"/>
              </a:ext>
            </a:extLst>
          </p:cNvPr>
          <p:cNvSpPr/>
          <p:nvPr/>
        </p:nvSpPr>
        <p:spPr>
          <a:xfrm>
            <a:off x="1022778" y="129141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38A804F-514A-C27D-4622-D92D7613FBCE}"/>
              </a:ext>
            </a:extLst>
          </p:cNvPr>
          <p:cNvSpPr/>
          <p:nvPr/>
        </p:nvSpPr>
        <p:spPr>
          <a:xfrm>
            <a:off x="1282289" y="129141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D9437C9-174D-637B-298B-758E3B5D5FB9}"/>
              </a:ext>
            </a:extLst>
          </p:cNvPr>
          <p:cNvGrpSpPr/>
          <p:nvPr/>
        </p:nvGrpSpPr>
        <p:grpSpPr>
          <a:xfrm>
            <a:off x="561826" y="186144"/>
            <a:ext cx="11122173" cy="854119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60EE33E-BED0-9EF5-9834-572C9F1E0813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24AB925-0FF0-1FCC-2531-A7B61ECA9F77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260AD52B-ADAB-D551-917E-221E680720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6"/>
                <a:ext cx="11348435" cy="673756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vi-V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Phép Chiếu 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252A4C3-AB99-8E2E-AA4F-98793BF0D367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vi-VN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D360D3D4-61B8-3D1C-B3E0-11F2B9DBAC12}"/>
              </a:ext>
            </a:extLst>
          </p:cNvPr>
          <p:cNvSpPr/>
          <p:nvPr/>
        </p:nvSpPr>
        <p:spPr>
          <a:xfrm>
            <a:off x="3740150" y="2595371"/>
            <a:ext cx="4544936" cy="61767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7784B16-6006-BB7E-C432-9138E817C07E}"/>
                  </a:ext>
                </a:extLst>
              </p:cNvPr>
              <p:cNvSpPr txBox="1"/>
              <p:nvPr/>
            </p:nvSpPr>
            <p:spPr>
              <a:xfrm>
                <a:off x="3740150" y="2621887"/>
                <a:ext cx="4544936" cy="511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500">
                              <a:latin typeface="Cambria Math" panose="02040503050406030204" pitchFamily="18" charset="0"/>
                            </a:rPr>
                            <m:t>...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US" sz="25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vi-VN" sz="25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7784B16-6006-BB7E-C432-9138E817C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150" y="2621887"/>
                <a:ext cx="4544936" cy="511743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C2AEC48-1C76-C3FE-86B6-889A312024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6097664"/>
                  </p:ext>
                </p:extLst>
              </p:nvPr>
            </p:nvGraphicFramePr>
            <p:xfrm>
              <a:off x="4275052" y="4568860"/>
              <a:ext cx="4228672" cy="16868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7168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990769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  <a:gridCol w="1123567">
                      <a:extLst>
                        <a:ext uri="{9D8B030D-6E8A-4147-A177-3AD203B41FA5}">
                          <a16:colId xmlns:a16="http://schemas.microsoft.com/office/drawing/2014/main" val="2156737778"/>
                        </a:ext>
                      </a:extLst>
                    </a:gridCol>
                    <a:gridCol w="1057168">
                      <a:extLst>
                        <a:ext uri="{9D8B030D-6E8A-4147-A177-3AD203B41FA5}">
                          <a16:colId xmlns:a16="http://schemas.microsoft.com/office/drawing/2014/main" val="784799646"/>
                        </a:ext>
                      </a:extLst>
                    </a:gridCol>
                  </a:tblGrid>
                  <a:tr h="421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834954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C2AEC48-1C76-C3FE-86B6-889A312024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6097664"/>
                  </p:ext>
                </p:extLst>
              </p:nvPr>
            </p:nvGraphicFramePr>
            <p:xfrm>
              <a:off x="4275052" y="4568860"/>
              <a:ext cx="4228672" cy="16868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7168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990769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  <a:gridCol w="1123567">
                      <a:extLst>
                        <a:ext uri="{9D8B030D-6E8A-4147-A177-3AD203B41FA5}">
                          <a16:colId xmlns:a16="http://schemas.microsoft.com/office/drawing/2014/main" val="2156737778"/>
                        </a:ext>
                      </a:extLst>
                    </a:gridCol>
                    <a:gridCol w="1057168">
                      <a:extLst>
                        <a:ext uri="{9D8B030D-6E8A-4147-A177-3AD203B41FA5}">
                          <a16:colId xmlns:a16="http://schemas.microsoft.com/office/drawing/2014/main" val="784799646"/>
                        </a:ext>
                      </a:extLst>
                    </a:gridCol>
                  </a:tblGrid>
                  <a:tr h="421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8025" t="-110145" r="-224074" b="-2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1734" t="-110145" r="-2890" b="-2086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8025" t="-207143" r="-224074" b="-1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1734" t="-207143" r="-2890" b="-1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834954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8025" t="-311594" r="-224074" b="-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1734" t="-311594" r="-2890" b="-7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84EE1E0-7E01-92C8-7E17-01FC29A648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7660056"/>
                  </p:ext>
                </p:extLst>
              </p:nvPr>
            </p:nvGraphicFramePr>
            <p:xfrm>
              <a:off x="8968743" y="4568860"/>
              <a:ext cx="2047937" cy="16868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7168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990769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</a:tblGrid>
                  <a:tr h="421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834954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84EE1E0-7E01-92C8-7E17-01FC29A648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7660056"/>
                  </p:ext>
                </p:extLst>
              </p:nvPr>
            </p:nvGraphicFramePr>
            <p:xfrm>
              <a:off x="8968743" y="4568860"/>
              <a:ext cx="2047937" cy="16868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7168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990769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</a:tblGrid>
                  <a:tr h="421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7362" t="-110145" r="-2454" b="-20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7362" t="-207143" r="-2454" b="-10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834954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7362" t="-311594" r="-2454" b="-28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EF9DB886-5093-60C3-3F5D-E0C81DA657E6}"/>
              </a:ext>
            </a:extLst>
          </p:cNvPr>
          <p:cNvSpPr/>
          <p:nvPr/>
        </p:nvSpPr>
        <p:spPr>
          <a:xfrm>
            <a:off x="864187" y="5315198"/>
            <a:ext cx="2657655" cy="61767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8485FD-3E23-7F3C-0743-9D9C199DDE66}"/>
                  </a:ext>
                </a:extLst>
              </p:cNvPr>
              <p:cNvSpPr txBox="1"/>
              <p:nvPr/>
            </p:nvSpPr>
            <p:spPr>
              <a:xfrm>
                <a:off x="930250" y="5368163"/>
                <a:ext cx="2573898" cy="493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2500" i="1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5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5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vi-VN" sz="25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8485FD-3E23-7F3C-0743-9D9C199D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50" y="5368163"/>
                <a:ext cx="2573898" cy="493981"/>
              </a:xfrm>
              <a:prstGeom prst="rect">
                <a:avLst/>
              </a:prstGeom>
              <a:blipFill>
                <a:blip r:embed="rId7"/>
                <a:stretch>
                  <a:fillRect b="-1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9917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A3E87-6370-2961-0293-64A78269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>
            <a:extLst>
              <a:ext uri="{FF2B5EF4-FFF2-40B4-BE49-F238E27FC236}">
                <a16:creationId xmlns:a16="http://schemas.microsoft.com/office/drawing/2014/main" id="{1A7B2D76-AC91-E543-DE8B-6B34A398A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D969D2E-1C1F-268F-3BBE-4B579F727C8B}"/>
              </a:ext>
            </a:extLst>
          </p:cNvPr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4A7FFD-5D00-2B3C-F659-BE48FFC8810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BB6A18-9C0A-C454-0FAF-FBADA2E7D289}"/>
              </a:ext>
            </a:extLst>
          </p:cNvPr>
          <p:cNvSpPr/>
          <p:nvPr/>
        </p:nvSpPr>
        <p:spPr>
          <a:xfrm>
            <a:off x="561826" y="1532098"/>
            <a:ext cx="11064950" cy="5072289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2DB53D-CF14-F24E-40D5-5CD50186E16A}"/>
                  </a:ext>
                </a:extLst>
              </p:cNvPr>
              <p:cNvSpPr txBox="1"/>
              <p:nvPr/>
            </p:nvSpPr>
            <p:spPr>
              <a:xfrm>
                <a:off x="741532" y="1700008"/>
                <a:ext cx="10652240" cy="47629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Được dùng để đổi tên quan hệ hoặc thuộc tính ,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Ký hiệu 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vi-VN" sz="2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vi-VN" sz="25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Q</a:t>
                </a: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uan hệ</a:t>
                </a: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 R(B,C,D)</a:t>
                </a:r>
              </a:p>
              <a:p>
                <a:pPr marL="342900" lvl="0" indent="-342900">
                  <a:buFontTx/>
                  <a:buChar char="-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500" i="1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d>
                      <m:d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vi-VN" sz="25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đổi tên quan hệ r thành s</a:t>
                </a:r>
              </a:p>
              <a:p>
                <a:pPr lvl="0">
                  <a:defRPr/>
                </a:pPr>
                <a:endParaRPr kumimoji="0" lang="vi-VN" sz="2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lvl="0"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Thuộc tính</a:t>
                </a:r>
                <a:endParaRPr kumimoji="0" lang="vi-VN" sz="2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lvl="0" indent="-342900">
                  <a:buFontTx/>
                  <a:buChar char="-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5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sz="2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2500" i="1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vi-VN" sz="2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2500" i="1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d>
                      <m:d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vi-VN" sz="25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đổi tên thuộc tính B thành X  </a:t>
                </a:r>
              </a:p>
              <a:p>
                <a:pPr marL="342900" lvl="0" indent="-342900">
                  <a:buFontTx/>
                  <a:buChar char="-"/>
                  <a:defRPr/>
                </a:pPr>
                <a:endParaRPr lang="vi-VN" sz="25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lvl="0">
                  <a:defRPr/>
                </a:pP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Đổi tên quan hệ R thành S và thuộc tính B thành X</a:t>
                </a:r>
                <a:endParaRPr lang="vi-VN" sz="25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lvl="7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250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vi-VN" sz="2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vi-VN" sz="2500" i="1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vi-VN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vi-VN" sz="2500" i="1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vi-VN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vi-VN" sz="250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vi-VN" sz="2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vi-VN" sz="2500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</m:oMath>
                  </m:oMathPara>
                </a14:m>
                <a:endParaRPr kumimoji="0" lang="vi-VN" sz="2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2DB53D-CF14-F24E-40D5-5CD50186E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32" y="1700008"/>
                <a:ext cx="10652240" cy="4762971"/>
              </a:xfrm>
              <a:prstGeom prst="rect">
                <a:avLst/>
              </a:prstGeom>
              <a:blipFill>
                <a:blip r:embed="rId4"/>
                <a:stretch>
                  <a:fillRect l="-973" t="-1024" b="-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C85BA582-0EF6-37B7-D967-F06F9E5EEF2D}"/>
              </a:ext>
            </a:extLst>
          </p:cNvPr>
          <p:cNvSpPr/>
          <p:nvPr/>
        </p:nvSpPr>
        <p:spPr>
          <a:xfrm>
            <a:off x="561826" y="1210477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6CDF678-927F-DF7F-DF1E-D589224E409D}"/>
              </a:ext>
            </a:extLst>
          </p:cNvPr>
          <p:cNvSpPr/>
          <p:nvPr/>
        </p:nvSpPr>
        <p:spPr>
          <a:xfrm>
            <a:off x="741864" y="129141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5126F7C-DFB3-A516-E3F8-446242555B88}"/>
              </a:ext>
            </a:extLst>
          </p:cNvPr>
          <p:cNvSpPr/>
          <p:nvPr/>
        </p:nvSpPr>
        <p:spPr>
          <a:xfrm>
            <a:off x="1022778" y="129141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206213B-5452-35CB-39F7-FFB45254D79E}"/>
              </a:ext>
            </a:extLst>
          </p:cNvPr>
          <p:cNvSpPr/>
          <p:nvPr/>
        </p:nvSpPr>
        <p:spPr>
          <a:xfrm>
            <a:off x="1282289" y="129141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CCDAD45-9B35-F653-94D0-D09AA9C3024E}"/>
              </a:ext>
            </a:extLst>
          </p:cNvPr>
          <p:cNvGrpSpPr/>
          <p:nvPr/>
        </p:nvGrpSpPr>
        <p:grpSpPr>
          <a:xfrm>
            <a:off x="561826" y="186144"/>
            <a:ext cx="11122173" cy="854119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5F95FE9-F27C-8193-A493-727F498FE8BA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890F53D-3B86-7605-7164-0812C29AE96B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2601D875-CA4C-651A-8EBA-D18AAEED87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6"/>
                <a:ext cx="11348435" cy="673756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vi-V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Phép Đổi Tên 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D673AEF-794F-7F09-AEEF-76F534C18E34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vi-VN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CA6DEAD-704C-99CC-85E0-C0201077A38C}"/>
              </a:ext>
            </a:extLst>
          </p:cNvPr>
          <p:cNvSpPr/>
          <p:nvPr/>
        </p:nvSpPr>
        <p:spPr>
          <a:xfrm>
            <a:off x="3752850" y="2595371"/>
            <a:ext cx="4064000" cy="58597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E87F754-660C-EDD6-D260-AEE099914063}"/>
                  </a:ext>
                </a:extLst>
              </p:cNvPr>
              <p:cNvSpPr txBox="1"/>
              <p:nvPr/>
            </p:nvSpPr>
            <p:spPr>
              <a:xfrm>
                <a:off x="3883025" y="2621887"/>
                <a:ext cx="3667125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2500" i="1"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a:rPr lang="en-US" sz="25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vi-VN" sz="25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E87F754-660C-EDD6-D260-AEE099914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025" y="2621887"/>
                <a:ext cx="3667125" cy="477054"/>
              </a:xfrm>
              <a:prstGeom prst="rect">
                <a:avLst/>
              </a:prstGeom>
              <a:blipFill>
                <a:blip r:embed="rId5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758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C8713-1CE7-D470-6E46-C7386B1A6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>
            <a:extLst>
              <a:ext uri="{FF2B5EF4-FFF2-40B4-BE49-F238E27FC236}">
                <a16:creationId xmlns:a16="http://schemas.microsoft.com/office/drawing/2014/main" id="{66537AF2-C883-AB89-C76B-FFE48040EE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02F61D9-DE2D-B6AE-9241-6971D817A8D5}"/>
              </a:ext>
            </a:extLst>
          </p:cNvPr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D10B61-2BB9-EC8F-ADE7-76FF4DFA00C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A78662-D11D-6CE3-FBDB-699FD1E54ED5}"/>
              </a:ext>
            </a:extLst>
          </p:cNvPr>
          <p:cNvSpPr/>
          <p:nvPr/>
        </p:nvSpPr>
        <p:spPr>
          <a:xfrm>
            <a:off x="561826" y="1529794"/>
            <a:ext cx="11064950" cy="5072289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CCE2D6-7058-7CBA-85B8-5FFEA041F29C}"/>
              </a:ext>
            </a:extLst>
          </p:cNvPr>
          <p:cNvSpPr/>
          <p:nvPr/>
        </p:nvSpPr>
        <p:spPr>
          <a:xfrm>
            <a:off x="561826" y="1210477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41A04EB-0308-6C93-0D86-6B088638DF19}"/>
              </a:ext>
            </a:extLst>
          </p:cNvPr>
          <p:cNvSpPr/>
          <p:nvPr/>
        </p:nvSpPr>
        <p:spPr>
          <a:xfrm>
            <a:off x="741864" y="129141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12C4460-A592-86E9-652E-D893985EBF70}"/>
              </a:ext>
            </a:extLst>
          </p:cNvPr>
          <p:cNvSpPr/>
          <p:nvPr/>
        </p:nvSpPr>
        <p:spPr>
          <a:xfrm>
            <a:off x="1022778" y="129141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008ECC0-851E-44C3-398D-7C331081D2C9}"/>
              </a:ext>
            </a:extLst>
          </p:cNvPr>
          <p:cNvSpPr/>
          <p:nvPr/>
        </p:nvSpPr>
        <p:spPr>
          <a:xfrm>
            <a:off x="1282289" y="129141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98F7C78-F397-0AAB-CDED-BFCC76346397}"/>
              </a:ext>
            </a:extLst>
          </p:cNvPr>
          <p:cNvGrpSpPr/>
          <p:nvPr/>
        </p:nvGrpSpPr>
        <p:grpSpPr>
          <a:xfrm>
            <a:off x="561827" y="186144"/>
            <a:ext cx="11064950" cy="897356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D7B48C6-D859-B219-AA6E-88372B854AC8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474AE1D-42D2-E00F-C7B0-07EE8DDB5914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0A87CBA4-8E23-1F27-98E0-1EE0D106FB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7"/>
                <a:ext cx="11348435" cy="641293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B1F1BAC-3128-8B05-A509-FB87E7D4756B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vi-VN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9F0607A-3911-980D-2162-E2B6ACA59642}"/>
              </a:ext>
            </a:extLst>
          </p:cNvPr>
          <p:cNvSpPr txBox="1"/>
          <p:nvPr/>
        </p:nvSpPr>
        <p:spPr>
          <a:xfrm>
            <a:off x="559956" y="369096"/>
            <a:ext cx="11066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vi-VN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</a:rPr>
              <a:t>Bài tập áp dụng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2202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779</Words>
  <Application>Microsoft Office PowerPoint</Application>
  <PresentationFormat>Widescreen</PresentationFormat>
  <Paragraphs>275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Symbol</vt:lpstr>
      <vt:lpstr>Times New Roman</vt:lpstr>
      <vt:lpstr>UTM Aristote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Nguyễn Sĩ Huy</cp:lastModifiedBy>
  <cp:revision>185</cp:revision>
  <dcterms:created xsi:type="dcterms:W3CDTF">2022-07-10T15:19:00Z</dcterms:created>
  <dcterms:modified xsi:type="dcterms:W3CDTF">2025-11-06T10:06:27Z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884CAE5DAF8B45D9AECCBA26EEC45DC5_12</vt:lpwstr>
  </property>
  <property fmtid="{D5CDD505-2E9C-101B-9397-08002B2CF9AE}" pid="3" name="KSOProductBuildVer">
    <vt:lpwstr>1033-12.2.0.23131</vt:lpwstr>
  </property>
</Properties>
</file>